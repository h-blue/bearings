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a22c0fbd04ac7" /><Relationship Type="http://schemas.openxmlformats.org/officeDocument/2006/relationships/extended-properties" Target="/docProps/app.xml" Id="R9cbbac89334c4c06" /><Relationship Type="http://schemas.openxmlformats.org/officeDocument/2006/relationships/officeDocument" Target="/ppt/presentation.xml" Id="Rbd9c8b5f522d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ec9d3d45644b6"/>
  </p:sldMasterIdLst>
  <p:notesMasterIdLst>
    <p:notesMasterId xmlns:r="http://schemas.openxmlformats.org/officeDocument/2006/relationships" r:id="Rc8d4556932374dbd"/>
  </p:notesMasterIdLst>
  <p:sldIdLst>
    <p:sldId xmlns:r="http://schemas.openxmlformats.org/officeDocument/2006/relationships" id="256" r:id="R2c140b0334aa404c"/>
    <p:sldId xmlns:r="http://schemas.openxmlformats.org/officeDocument/2006/relationships" id="257" r:id="R47c4f0323f5c4bcd"/>
    <p:sldId xmlns:r="http://schemas.openxmlformats.org/officeDocument/2006/relationships" id="258" r:id="R1bf0a15a10b84602"/>
    <p:sldId xmlns:r="http://schemas.openxmlformats.org/officeDocument/2006/relationships" id="259" r:id="R86137cd774c14d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627eb3e2d34da4" /><Relationship Type="http://schemas.openxmlformats.org/officeDocument/2006/relationships/slideMaster" Target="/ppt/slideMasters/slideMaster1.xml" Id="Rfe0ec9d3d45644b6" /><Relationship Type="http://schemas.openxmlformats.org/officeDocument/2006/relationships/notesMaster" Target="/ppt/notesMasters/notesMaster1.xml" Id="Rc8d4556932374dbd" /><Relationship Type="http://schemas.openxmlformats.org/officeDocument/2006/relationships/presProps" Target="/ppt/presProps.xml" Id="Rc2a101c403e24b3e" /><Relationship Type="http://schemas.openxmlformats.org/officeDocument/2006/relationships/tableStyles" Target="/ppt/tableStyles.xml" Id="Rf7d56b10106f4e68" /><Relationship Type="http://schemas.openxmlformats.org/officeDocument/2006/relationships/slide" Target="/ppt/slides/slide1.xml" Id="R2c140b0334aa404c" /><Relationship Type="http://schemas.openxmlformats.org/officeDocument/2006/relationships/slide" Target="/ppt/slides/slide2.xml" Id="R47c4f0323f5c4bcd" /><Relationship Type="http://schemas.openxmlformats.org/officeDocument/2006/relationships/slide" Target="/ppt/slides/slide3.xml" Id="R1bf0a15a10b84602" /><Relationship Type="http://schemas.openxmlformats.org/officeDocument/2006/relationships/slide" Target="/ppt/slides/slide4.xml" Id="R86137cd774c1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fa7f7a3796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ec60c29dae49d6" /><Relationship Type="http://schemas.openxmlformats.org/officeDocument/2006/relationships/notesMaster" Target="/ppt/notesMasters/notesMaster1.xml" Id="Re7a6b1618a2746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7177775a24ddc" /><Relationship Type="http://schemas.openxmlformats.org/officeDocument/2006/relationships/notesMaster" Target="/ppt/notesMasters/notesMaster1.xml" Id="R551f6b65def4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63df2c1586489b" /><Relationship Type="http://schemas.openxmlformats.org/officeDocument/2006/relationships/notesMaster" Target="/ppt/notesMasters/notesMaster1.xml" Id="R1764799ac1a4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2062eb22b4fc8" /><Relationship Type="http://schemas.openxmlformats.org/officeDocument/2006/relationships/notesMaster" Target="/ppt/notesMasters/notesMaster1.xml" Id="R85cd9698cc05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Bearings is a private iPhone journal. The central experience remains timeline → day → writing. On-device reflection appears after the journal and stays revisable.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CDC MMWR, 2022 survey across 26 U.S. states, published June 20, 2024: https://www.cdc.gov/mmwr/volumes/73/wr/mm7324a1.htm</a:t>
            </a:r>
          </a:p>
          <a:p xmlns:a="http://schemas.openxmlformats.org/drawingml/2006/main">
            <a:r>
              <a:t>Vedernikova, Kuppens and Erbas, 2021: https://www.frontiersin.org/journals/psychology/articles/10.3389/fpsyg.2021.703757/full</a:t>
            </a:r>
          </a:p>
          <a:p xmlns:a="http://schemas.openxmlformats.org/drawingml/2006/main">
            <a:r>
              <a:t>Matt, Seah and Coifman, 2024: https://journals.plos.org/plosone/article?id=10.1371/journal.pone.0299540</a:t>
            </a:r>
          </a:p>
          <a:p xmlns:a="http://schemas.openxmlformats.org/drawingml/2006/main">
            <a:r>
              <a:t>World Economic Forum, Future of Jobs Report 2025, skills outlook: https://www.weforum.org/publications/the-future-of-jobs-report-2025/in-full/3-skills-outlook/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Limitations: these studies do not validate Bearings, AI-generated emotion labels, or clinical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 is fictional. The implemented app supports local writing, daily and period reflections, emotion correction, and stale-result handling. Finer source-linked assumptions and adaptive lesson history remain proposed. Do not present the prepared example as measured benefit or live model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future vision, not an efficacy claim. Bearings has not demonstrated population-scale outcomes. Keep the product boundary explicit: local processing, private journals, no analytics, no social feed, and no employer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ccb902be54b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38e2b1f7640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6771582b341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e3a6eafcd49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eec4bca7d47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0c7875010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C98D78-9B8B-4A39-B842-722D87B52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91198A-E041-450B-B364-10CF107166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6FF1C3-957E-4B1C-A5F6-F2AC65530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5A6ABD-DE6A-4D2A-8CE1-413DE0D50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0031D9-F50E-4483-BB75-D9F6D1E76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14DBB1-163C-4940-A97C-569E019A8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828F88-22D9-4179-84B5-60036636BE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B3F585-32E1-4D01-BB6B-F49C493925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51B757-E748-4F02-9CF4-003B41988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FA9189-60E5-4EDC-98FD-7A54AD8A08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3887c346f4e41" /><Relationship Type="http://schemas.openxmlformats.org/officeDocument/2006/relationships/slideLayout" Target="/ppt/slideLayouts/slideLayout1.xml" Id="R6ad8919f98404a91" /><Relationship Type="http://schemas.openxmlformats.org/officeDocument/2006/relationships/slideLayout" Target="/ppt/slideLayouts/slideLayout2.xml" Id="Rc357eb9990304467" /><Relationship Type="http://schemas.openxmlformats.org/officeDocument/2006/relationships/slideLayout" Target="/ppt/slideLayouts/slideLayout3.xml" Id="R758c1a961e7c4b37" /><Relationship Type="http://schemas.openxmlformats.org/officeDocument/2006/relationships/slideLayout" Target="/ppt/slideLayouts/slideLayout4.xml" Id="R067bfb4b84504349" /><Relationship Type="http://schemas.openxmlformats.org/officeDocument/2006/relationships/slideLayout" Target="/ppt/slideLayouts/slideLayout5.xml" Id="Ra1244c10baef451e" /><Relationship Type="http://schemas.openxmlformats.org/officeDocument/2006/relationships/slideLayout" Target="/ppt/slideLayouts/slideLayout6.xml" Id="R1b32c390cb47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8919f98404a91"/>
    <p:sldLayoutId xmlns:r="http://schemas.openxmlformats.org/officeDocument/2006/relationships" id="2147483650" r:id="Rc357eb9990304467"/>
    <p:sldLayoutId xmlns:r="http://schemas.openxmlformats.org/officeDocument/2006/relationships" id="2147483651" r:id="R758c1a961e7c4b37"/>
    <p:sldLayoutId xmlns:r="http://schemas.openxmlformats.org/officeDocument/2006/relationships" id="2147483652" r:id="R067bfb4b84504349"/>
    <p:sldLayoutId xmlns:r="http://schemas.openxmlformats.org/officeDocument/2006/relationships" id="2147483653" r:id="Ra1244c10baef451e"/>
    <p:sldLayoutId xmlns:r="http://schemas.openxmlformats.org/officeDocument/2006/relationships" id="2147483654" r:id="R1b32c390cb47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1830b87094df5" /><Relationship Type="http://schemas.openxmlformats.org/officeDocument/2006/relationships/image" Target="/ppt/media/image.png" Id="R525eb968270e4ecc" /><Relationship Type="http://schemas.openxmlformats.org/officeDocument/2006/relationships/notesSlide" Target="/ppt/notesSlides/notesSlide1.xml" Id="R7191c30141e0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4b66c00fc4cdc" /><Relationship Type="http://schemas.openxmlformats.org/officeDocument/2006/relationships/notesSlide" Target="/ppt/notesSlides/notesSlide2.xml" Id="Re2a4d9966d16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940cd3bec4a2c" /><Relationship Type="http://schemas.openxmlformats.org/officeDocument/2006/relationships/image" Target="/ppt/media/image2.png" Id="R257043ef3e594346" /><Relationship Type="http://schemas.openxmlformats.org/officeDocument/2006/relationships/image" Target="/ppt/media/image.jpeg" Id="R673dc19b87434e39" /><Relationship Type="http://schemas.openxmlformats.org/officeDocument/2006/relationships/notesSlide" Target="/ppt/notesSlides/notesSlide3.xml" Id="Re11b888b38e4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3c276a09b4977" /><Relationship Type="http://schemas.openxmlformats.org/officeDocument/2006/relationships/image" Target="/ppt/media/image3.png" Id="R2d4cc5ae69a84093" /><Relationship Type="http://schemas.openxmlformats.org/officeDocument/2006/relationships/image" Target="/ppt/media/image4.png" Id="R41ea3ab5be934d5b" /><Relationship Type="http://schemas.openxmlformats.org/officeDocument/2006/relationships/notesSlide" Target="/ppt/notesSlides/notesSlide4.xml" Id="R966f7cef164e47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E8540-999D-438F-AF7D-0F6B78B51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eb968270e4ecc"/>
          <a:srcRect xmlns:a="http://schemas.openxmlformats.org/drawingml/2006/main" l="0" t="37064" r="0" b="37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D12BB188-31AA-49FC-88C8-18C2E1B2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B89">
              <a:alpha val="9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B8B6B-9BB5-4B4D-A3D3-B0AE54D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525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37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Bearings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93026-18D1-4F24-B7D9-4D3CAAEE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1800" b="0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Find what’s been lost inside.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B8667-082B-4AD2-A590-863ED38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48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1275" b="1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Private journaling with on-device reflection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B930A-AE9E-44A6-9424-1AAAAF5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483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1050" b="0" i="0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The journal remains the source. The writer remains in control.</a:t>
            </a:r>
          </a:p>
        </p:txBody>
      </p:sp>
    </p:spTree>
    <p:extLst>
      <p:ext uri="{BB962C8B-B14F-4D97-AF65-F5344CB8AC3E}">
        <p14:creationId xmlns:p14="http://schemas.microsoft.com/office/powerpoint/2010/main" val="67407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CE42F-3029-4710-B281-B9D9A0FF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RESEARCH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6446A7-8027-45E5-A7CD-B3859091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Why emotional clarity matters now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000D6CB-69BC-4882-BD43-45857BE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7F70C-06A6-4A8B-8D09-0911BC4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00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2D682-BC67-4A4D-AD26-5537AA95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5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29.7%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388B3-A391-4B8E-8450-A78C8B72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650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of adults ages 18–34 in a 26-state CDC survey received needed social or emotional support only sometimes, rarely, or never.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B2C0B-FCF4-4E84-806E-5BF2CB2A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95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1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A need for support does not equal low emotional intelligence. The statistic frames the communication gap, not Bearings’ efficacy.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3A19685B-AA9A-4299-B931-A69B636E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002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3708-32D0-491C-8958-E2703932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0A675-B0B8-4589-A523-3FEDD9C0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Emotion education can help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5CF04-8088-4FDB-9F92-8A9ACC53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 randomized study of 120 adults found that five days of emotion education improved negative emotion differentiation on a scenario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6892A-9B66-4809-9752-826DADE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9525">
            <a:solidFill>
              <a:srgbClr val="B58A3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C79ED-4013-4A42-8F61-51945F2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Vocabulary alone may fall short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CAFD7-3C9E-42A9-BB21-089D22F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 separate study of 118 college participants found no significant overall benefit from brief emotion-word learning.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C34C4-F074-42A3-95B9-3A9AD246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3B85D-0557-4A82-9BB8-4D5A13FA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Human skills remain valuable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EA06B-A341-47DC-8E5A-AD2BB650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The World Economic Forum’s 2025 employer survey placed creative thinking, self-awareness, empathy, and active listening among leading workplace skills.</a:t>
            </a:r>
          </a:p>
        </p:txBody>
      </p:sp>
      <p:sp>
        <p:nvSpPr>
          <p:cNvPr id="18" name="research-inference">
            <a:extLst xmlns:a="http://schemas.openxmlformats.org/drawingml/2006/main">
              <a:ext uri="{FF2B5EF4-FFF2-40B4-BE49-F238E27FC236}">
                <a16:creationId xmlns:a16="http://schemas.microsoft.com/office/drawing/2014/main" id="{AAE02E37-364B-42BF-81D8-4C640E7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67350"/>
            <a:ext cx="5486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D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73BE8-A1EB-4B5F-881F-E6CE6A57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816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12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Design inference: teach distinctions inside the writer’s own context, then let the writer confirm or reject them.</a:t>
            </a:r>
          </a:p>
        </p:txBody>
      </p:sp>
    </p:spTree>
    <p:extLst>
      <p:ext uri="{BB962C8B-B14F-4D97-AF65-F5344CB8AC3E}">
        <p14:creationId xmlns:p14="http://schemas.microsoft.com/office/powerpoint/2010/main" val="855711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398EA-E0B5-485B-8476-DF90D16C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39D6E4-8A18-4584-BE5F-AF5DE1C6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Bearings features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113E4AA-175D-46C9-973D-87741A7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1795-71FE-44F7-9EC6-708B133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00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timeline-frame">
            <a:extLst xmlns:a="http://schemas.openxmlformats.org/drawingml/2006/main">
              <a:ext uri="{FF2B5EF4-FFF2-40B4-BE49-F238E27FC236}">
                <a16:creationId xmlns:a16="http://schemas.microsoft.com/office/drawing/2014/main" id="{51624CEC-4857-43EF-8E96-69A34C78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4000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7D3B8"/>
          </a:solidFill>
          <a:ln xmlns:a="http://schemas.openxmlformats.org/drawingml/2006/main" w="14288">
            <a:solidFill>
              <a:srgbClr val="323575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C4D22-A075-4D63-AA69-0E86B8053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43ef3e594346"/>
          <a:srcRect xmlns:a="http://schemas.openxmlformats.org/drawingml/2006/main" l="0" t="11175" r="0" b="11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7" name="reflection-frame">
            <a:extLst xmlns:a="http://schemas.openxmlformats.org/drawingml/2006/main">
              <a:ext uri="{FF2B5EF4-FFF2-40B4-BE49-F238E27FC236}">
                <a16:creationId xmlns:a16="http://schemas.microsoft.com/office/drawing/2014/main" id="{38E4C34D-90F3-4FAD-9E44-3A39ED2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4000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7D3B8"/>
          </a:solidFill>
          <a:ln xmlns:a="http://schemas.openxmlformats.org/drawingml/2006/main" w="14288">
            <a:solidFill>
              <a:srgbClr val="323575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AC496-D969-43C0-B30D-BFF54A4A7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dc19b87434e39"/>
          <a:srcRect xmlns:a="http://schemas.openxmlformats.org/drawingml/2006/main" l="0" t="0" r="0" b="62000"/>
          <a:stretch xmlns:a="http://schemas.openxmlformats.org/drawingml/2006/main"/>
        </p:blipFill>
        <p:spPr>
          <a:xfrm xmlns:a="http://schemas.openxmlformats.org/drawingml/2006/main">
            <a:off x="742950" y="3829050"/>
            <a:ext cx="377190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B1C1E-2040-4465-95E6-24341977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14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DA0A6-EED3-41DF-8DA4-6354FC54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954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Journal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033C0-F5A0-418A-B01F-C24626B2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00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Timeline, civil calendar days, and native writing preserve the user’s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0CA0F-3D01-4439-BB79-0EAEE670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F79F2-E7C6-40BA-9B07-C02FDCF9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On-device reflection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B677E-7DBF-4F9D-A7A8-E6A10E59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289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00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Daily summaries and requested weekly or monthly views use Apple’s local model when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FF6C0-4FF0-47F8-B206-283435B5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9525">
            <a:solidFill>
              <a:srgbClr val="B58A3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FCA08-2911-4851-9164-25DF5160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71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User correction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E55AA-ADE3-433A-B49B-49FEEC5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00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Emotion choices can override a suggestion without rewriting the original entry.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2B930-FB8F-4303-A132-ED1DDC27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136D9-5307-4438-B6BD-C69FB45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0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Reliable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AD529-64E2-48F9-A062-D1C38C0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00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Committed entries drive analysis. Source changes invalidate stale results before saving.</a:t>
            </a:r>
          </a:p>
        </p:txBody>
      </p:sp>
      <p:sp>
        <p:nvSpPr>
          <p:cNvPr id="21" name="test-example">
            <a:extLst xmlns:a="http://schemas.openxmlformats.org/drawingml/2006/main">
              <a:ext uri="{FF2B5EF4-FFF2-40B4-BE49-F238E27FC236}">
                <a16:creationId xmlns:a16="http://schemas.microsoft.com/office/drawing/2014/main" id="{1B7EE41B-A30A-4C5D-B39B-CFA494B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6210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A85CC-9239-42A9-9F55-CE2CBD14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86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050" b="1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Test example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C3EEA-08E8-4EB2-BFE5-21693C8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1495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125" b="0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Alex notices: “I keep hearing a problem with the screen as a problem with me.” Bearings can help separate the event from that assumption, then preserve his correction for the next review.</a:t>
            </a:r>
          </a:p>
        </p:txBody>
      </p:sp>
    </p:spTree>
    <p:extLst>
      <p:ext uri="{BB962C8B-B14F-4D97-AF65-F5344CB8AC3E}">
        <p14:creationId xmlns:p14="http://schemas.microsoft.com/office/powerpoint/2010/main" val="646082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235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A63B7-4846-4475-8B67-F7E3901F8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c5ae69a84093"/>
          <a:srcRect xmlns:a="http://schemas.openxmlformats.org/drawingml/2006/main" l="0" t="6991" r="0" b="6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667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ap-overlay">
            <a:extLst xmlns:a="http://schemas.openxmlformats.org/drawingml/2006/main">
              <a:ext uri="{FF2B5EF4-FFF2-40B4-BE49-F238E27FC236}">
                <a16:creationId xmlns:a16="http://schemas.microsoft.com/office/drawing/2014/main" id="{6C00313F-3A94-41CC-8F95-0E79B72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67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>
              <a:alpha val="78431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5BD45-80CA-45C9-A19F-B66FC82F7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a3ab5be934d5b"/>
          <a:stretch xmlns:a="http://schemas.openxmlformats.org/drawingml/2006/main"/>
        </p:blipFill>
        <p:spPr>
          <a:xfrm xmlns:a="http://schemas.openxmlformats.org/drawingml/2006/main">
            <a:off x="838200" y="1428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0E546-6B53-468B-8463-4C2E6CA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34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Millions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8EE4A-55A6-4FC1-9DCB-07B8191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350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of private reflections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9338C-2D3B-43D5-9EA1-EB912D5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12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No public feed. No employer dashboard. No central archive of people’s inner lives.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2A125-461C-48A1-9AA3-5EE01F0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4350"/>
            <a:ext cx="706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62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 world with clearer conversations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0D263-4C17-4422-A332-CEAB285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001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72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If millions of people practiced separating events from assumptions, everyday communication could change before conflict became crisis.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7DAEA-972A-4660-9FB2-FE6333B6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B89"/>
          </a:solidFill>
          <a:ln xmlns:a="http://schemas.openxmlformats.org/drawingml/2006/main" w="9525">
            <a:solidFill>
              <a:srgbClr val="C8AB8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4C0E0-400C-4E7B-8135-EE37533F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At home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87A13-F589-45BE-BFB5-B2898036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4790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People enter hard conversations with more precise words and a clearer request.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7C60D-A956-4725-8A5C-95C1AAE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B89"/>
          </a:solidFill>
          <a:ln xmlns:a="http://schemas.openxmlformats.org/drawingml/2006/main" w="9525">
            <a:solidFill>
              <a:srgbClr val="C8AB8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93E20-AFC3-4393-A751-F62A0B7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At school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4CDA3-34DC-465E-83D2-2858B59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8610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Students practice reflection between ordinary moments while retaining ownership of their writing.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FF517-D421-4EBF-8FF9-670FC34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B89"/>
          </a:solidFill>
          <a:ln xmlns:a="http://schemas.openxmlformats.org/drawingml/2006/main" w="9525">
            <a:solidFill>
              <a:srgbClr val="C8AB8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144F4-FBC1-478F-9D89-1D9047B0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24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At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DC2B1-0CF6-4A29-B7D2-1435A202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2430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Feedback, repair, and boundaries improve without turning private journals into employee scores.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6383A-5EFC-4ECB-ADDC-1B07B89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81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9525">
            <a:solidFill>
              <a:srgbClr val="B58A3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050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69817-2F12-4A5F-96E6-F03CEF9A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1" i="0">
                <a:solidFill>
                  <a:srgbClr val="E9C46A"/>
                </a:solidFill>
                <a:latin typeface="Avenir Next"/>
                <a:ea typeface="Avenir Next"/>
                <a:cs typeface="Avenir Next"/>
              </a:rPr>
              <a:t>At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7FE66-3336-4A0E-B13E-03686258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250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7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The social value comes from changed conversations. The private data can remain on each device.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EFAF917D-1520-4DDE-8014-D0775741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29300"/>
            <a:ext cx="683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EF3CF-0EAF-42AA-9CEB-76897EB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81700"/>
            <a:ext cx="683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3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The ambition is cultural: better questions, clearer requests, and earlier repair.</a:t>
            </a:r>
          </a:p>
        </p:txBody>
      </p:sp>
    </p:spTree>
    <p:extLst>
      <p:ext uri="{BB962C8B-B14F-4D97-AF65-F5344CB8AC3E}">
        <p14:creationId xmlns:p14="http://schemas.microsoft.com/office/powerpoint/2010/main" val="1400786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2026-10-11T08:46:11.5930000Z</dcterms:created>
  <dcterms:modified xsi:type="dcterms:W3CDTF">2026-10-11T08:46:11.5930000Z</dcterms:modified>
</coreProperties>
</file>