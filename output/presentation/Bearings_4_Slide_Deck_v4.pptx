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bdf1abfaa44631" /><Relationship Type="http://schemas.openxmlformats.org/officeDocument/2006/relationships/extended-properties" Target="/docProps/app.xml" Id="Rf76cf332cdb14ac3" /><Relationship Type="http://schemas.openxmlformats.org/officeDocument/2006/relationships/officeDocument" Target="/ppt/presentation.xml" Id="R37d8b34f18f44747" /></Relationships>
</file>

<file path=ppt/presentation.xml><?xml version="1.0" encoding="utf-8"?>
<p:presentation xmlns:p="http://schemas.openxmlformats.org/presentationml/2006/main">
  <p:sldMasterIdLst>
    <p:sldMasterId xmlns:r="http://schemas.openxmlformats.org/officeDocument/2006/relationships" id="2147483648" r:id="R85a3491012b54e8c"/>
  </p:sldMasterIdLst>
  <p:notesMasterIdLst>
    <p:notesMasterId xmlns:r="http://schemas.openxmlformats.org/officeDocument/2006/relationships" r:id="R1b28d1e7eb8b482a"/>
  </p:notesMasterIdLst>
  <p:sldIdLst>
    <p:sldId xmlns:r="http://schemas.openxmlformats.org/officeDocument/2006/relationships" id="256" r:id="R5127442ecfa54c9b"/>
    <p:sldId xmlns:r="http://schemas.openxmlformats.org/officeDocument/2006/relationships" id="257" r:id="R91bee39e0ca34d7c"/>
    <p:sldId xmlns:r="http://schemas.openxmlformats.org/officeDocument/2006/relationships" id="258" r:id="Ra152f3ab8c614a02"/>
    <p:sldId xmlns:r="http://schemas.openxmlformats.org/officeDocument/2006/relationships" id="259" r:id="R3a3d42e9d42a4d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9f0b873c33446e" /><Relationship Type="http://schemas.openxmlformats.org/officeDocument/2006/relationships/slideMaster" Target="/ppt/slideMasters/slideMaster1.xml" Id="R85a3491012b54e8c" /><Relationship Type="http://schemas.openxmlformats.org/officeDocument/2006/relationships/notesMaster" Target="/ppt/notesMasters/notesMaster1.xml" Id="R1b28d1e7eb8b482a" /><Relationship Type="http://schemas.openxmlformats.org/officeDocument/2006/relationships/presProps" Target="/ppt/presProps.xml" Id="Rfb5c8a72d5ac446b" /><Relationship Type="http://schemas.openxmlformats.org/officeDocument/2006/relationships/tableStyles" Target="/ppt/tableStyles.xml" Id="Rd0ec734466bd48b4" /><Relationship Type="http://schemas.openxmlformats.org/officeDocument/2006/relationships/slide" Target="/ppt/slides/slide1.xml" Id="R5127442ecfa54c9b" /><Relationship Type="http://schemas.openxmlformats.org/officeDocument/2006/relationships/slide" Target="/ppt/slides/slide2.xml" Id="R91bee39e0ca34d7c" /><Relationship Type="http://schemas.openxmlformats.org/officeDocument/2006/relationships/slide" Target="/ppt/slides/slide3.xml" Id="Ra152f3ab8c614a02" /><Relationship Type="http://schemas.openxmlformats.org/officeDocument/2006/relationships/slide" Target="/ppt/slides/slide4.xml" Id="R3a3d42e9d42a4d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32cca0c7e042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c853b7902b4e72" /><Relationship Type="http://schemas.openxmlformats.org/officeDocument/2006/relationships/notesMaster" Target="/ppt/notesMasters/notesMaster1.xml" Id="Re22a3bc99f164a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d97afbc80e4cc3" /><Relationship Type="http://schemas.openxmlformats.org/officeDocument/2006/relationships/notesMaster" Target="/ppt/notesMasters/notesMaster1.xml" Id="Rb8a5b172a0064a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76148e0fd64997" /><Relationship Type="http://schemas.openxmlformats.org/officeDocument/2006/relationships/notesMaster" Target="/ppt/notesMasters/notesMaster1.xml" Id="Rd007820f26b147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52d049a1ac4a39" /><Relationship Type="http://schemas.openxmlformats.org/officeDocument/2006/relationships/notesMaster" Target="/ppt/notesMasters/notesMaster1.xml" Id="R96c0c7560a744d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Bearings is a private iPhone journal. The central experience remains timeline → day → writing. On-device reflection appears after the journal and stays revisable.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Taillieu et al., 2016, nationally representative U.S. adult sample: emotional neglect only 6.2%; emotional neglect with emotional abuse 3.1%; approximately 9.3% combined. https://pubmed.ncbi.nlm.nih.gov/27490515/</a:t>
            </a:r>
          </a:p>
          <a:p xmlns:a="http://schemas.openxmlformats.org/drawingml/2006/main">
            <a:r>
              <a:t>WHO Commission on Social Connection, 2025: about one in six people worldwide experience loneliness. https://www.who.int/publications/i/item/978240112360</a:t>
            </a:r>
          </a:p>
          <a:p xmlns:a="http://schemas.openxmlformats.org/drawingml/2006/main">
            <a:r>
              <a:t>OECD, Social Connections and Loneliness in OECD Countries, 2025: in-person interaction has been falling for more than a decade. https://www.oecd.org/en/publications/social-connections-and-loneliness-in-oecd-countries_6df2d6a0-en.html</a:t>
            </a:r>
          </a:p>
          <a:p xmlns:a="http://schemas.openxmlformats.org/drawingml/2006/main">
            <a:r>
              <a:t>World Economic Forum, Future of Jobs Report 2025: creative thinking ranked fourth, motivation and self-awareness fifth, empathy and active listening seventh among employer-rated core skills. https://www.weforum.org/publications/the-future-of-jobs-report-2025/in-full/3-skills-outlook/</a:t>
            </a:r>
          </a:p>
          <a:p xmlns:a="http://schemas.openxmlformats.org/drawingml/2006/main">
            <a:r>
              <a:t>Vedernikova, Kuppens and Erbas, 2021: https://www.frontiersin.org/journals/psychology/articles/10.3389/fpsyg.2021.703757/full</a:t>
            </a:r>
          </a:p>
          <a:p xmlns:a="http://schemas.openxmlformats.org/drawingml/2006/main">
            <a:r>
              <a:t/>
            </a:r>
          </a:p>
          <a:p xmlns:a="http://schemas.openxmlformats.org/drawingml/2006/main">
            <a:r>
              <a:t>Limitations: these sources do not validate Bearings, prove that it increases empathy, or establish clinical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Alex is fictional. Summaries, period reflections, and broad emotion correction are implemented. Highlighting vague words, finer emotion prompts, reviewed lessons, and adaptive skill practice remain proposed. Present this as the intended product loop, not measured benefit or live model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future vision, not an efficacy claim. Bearings has not demonstrated population-scale outcomes and does not treat screen addiction. The intended role is reflective: help users notice when a screen habit is replacing desired connection and choose a real-world next step. Keep the product boundary explicit: local processing, private journals, no social feed, and no employer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f5820bd12e4c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82722cdf534f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597ed7465504b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e075ace3c54c2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d249cb596540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e32ca29beb42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FED33D-2BDE-440F-8FB3-2E6313EB50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662D554-3FCF-4512-8E3F-545145023A9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5C5940-A79D-48D6-9A5C-D98E5B10C32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A82B4F-191D-4387-A232-4934D49F26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9BAAAF8-2FB7-460B-A785-A3325182D0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751190-C9DF-44D9-98C6-B81F28D2DD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D68358-9A6F-4F80-8010-5EF2B2FA9C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A390BED-D503-4AF1-A40B-99400A8ADDB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90C1F5-E7DB-4973-8D63-F4BA601661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06E7AA-EE44-4F1E-880A-3010D18038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46bc6f79ad4355" /><Relationship Type="http://schemas.openxmlformats.org/officeDocument/2006/relationships/slideLayout" Target="/ppt/slideLayouts/slideLayout1.xml" Id="R09dd7107ccff4af0" /><Relationship Type="http://schemas.openxmlformats.org/officeDocument/2006/relationships/slideLayout" Target="/ppt/slideLayouts/slideLayout2.xml" Id="R9f662d9cd27e4273" /><Relationship Type="http://schemas.openxmlformats.org/officeDocument/2006/relationships/slideLayout" Target="/ppt/slideLayouts/slideLayout3.xml" Id="R30a9fcaaaed24d68" /><Relationship Type="http://schemas.openxmlformats.org/officeDocument/2006/relationships/slideLayout" Target="/ppt/slideLayouts/slideLayout4.xml" Id="R96bf29eb24554c67" /><Relationship Type="http://schemas.openxmlformats.org/officeDocument/2006/relationships/slideLayout" Target="/ppt/slideLayouts/slideLayout5.xml" Id="R3b65cfbbdefb4031" /><Relationship Type="http://schemas.openxmlformats.org/officeDocument/2006/relationships/slideLayout" Target="/ppt/slideLayouts/slideLayout6.xml" Id="Rba4306d60ae440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dd7107ccff4af0"/>
    <p:sldLayoutId xmlns:r="http://schemas.openxmlformats.org/officeDocument/2006/relationships" id="2147483650" r:id="R9f662d9cd27e4273"/>
    <p:sldLayoutId xmlns:r="http://schemas.openxmlformats.org/officeDocument/2006/relationships" id="2147483651" r:id="R30a9fcaaaed24d68"/>
    <p:sldLayoutId xmlns:r="http://schemas.openxmlformats.org/officeDocument/2006/relationships" id="2147483652" r:id="R96bf29eb24554c67"/>
    <p:sldLayoutId xmlns:r="http://schemas.openxmlformats.org/officeDocument/2006/relationships" id="2147483653" r:id="R3b65cfbbdefb4031"/>
    <p:sldLayoutId xmlns:r="http://schemas.openxmlformats.org/officeDocument/2006/relationships" id="2147483654" r:id="Rba4306d60ae440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a2efe9946584a1f" /><Relationship Type="http://schemas.openxmlformats.org/officeDocument/2006/relationships/image" Target="/ppt/media/image.png" Id="R6ca9adcad34d4b62" /><Relationship Type="http://schemas.openxmlformats.org/officeDocument/2006/relationships/notesSlide" Target="/ppt/notesSlides/notesSlide1.xml" Id="R5a4a3e933d1c46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f17737224f4bf7" /><Relationship Type="http://schemas.openxmlformats.org/officeDocument/2006/relationships/notesSlide" Target="/ppt/notesSlides/notesSlide2.xml" Id="Rda91aa8eee7941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d28bdef4e854508" /><Relationship Type="http://schemas.openxmlformats.org/officeDocument/2006/relationships/image" Target="/ppt/media/image2.png" Id="R02b57338d4a142f5" /><Relationship Type="http://schemas.openxmlformats.org/officeDocument/2006/relationships/image" Target="/ppt/media/image.jpeg" Id="Rae23c15cb8f24724" /><Relationship Type="http://schemas.openxmlformats.org/officeDocument/2006/relationships/notesSlide" Target="/ppt/notesSlides/notesSlide3.xml" Id="R275dabc9bd6f44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606ef3c8ae84519" /><Relationship Type="http://schemas.openxmlformats.org/officeDocument/2006/relationships/image" Target="/ppt/media/image3.png" Id="R12502b16f0d84b01" /><Relationship Type="http://schemas.openxmlformats.org/officeDocument/2006/relationships/image" Target="/ppt/media/image4.png" Id="R352902a26d964eed" /><Relationship Type="http://schemas.openxmlformats.org/officeDocument/2006/relationships/notesSlide" Target="/ppt/notesSlides/notesSlide4.xml" Id="R43a2a972342e4a94" /></Relationships>
</file>

<file path=ppt/slides/slide1.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C8F62A3-EDB1-4C11-9A46-43B9CB119FED}"/>
              </a:ext>
            </a:extLst>
          </p:cNvPr>
          <p:cNvPicPr>
            <a:picLocks xmlns:a="http://schemas.openxmlformats.org/drawingml/2006/main" noChangeAspect="1"/>
          </p:cNvPicPr>
          <p:nvPr/>
        </p:nvPicPr>
        <p:blipFill>
          <a:blip xmlns:r="http://schemas.openxmlformats.org/officeDocument/2006/relationships" xmlns:a="http://schemas.openxmlformats.org/drawingml/2006/main" r:embed="R6ca9adcad34d4b62"/>
          <a:srcRect xmlns:a="http://schemas.openxmlformats.org/drawingml/2006/main" l="0" t="37064" r="0" b="3706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field">
            <a:extLst xmlns:a="http://schemas.openxmlformats.org/drawingml/2006/main">
              <a:ext uri="{FF2B5EF4-FFF2-40B4-BE49-F238E27FC236}">
                <a16:creationId xmlns:a16="http://schemas.microsoft.com/office/drawing/2014/main" id="{436F72FA-B682-4611-AE48-076583177192}"/>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C8AB89">
              <a:alpha val="90196"/>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3DFE475-6C8D-474B-A5A5-16D7A0E76A4E}"/>
              </a:ext>
            </a:extLst>
          </p:cNvPr>
          <p:cNvSpPr>
            <a:spLocks xmlns:a="http://schemas.openxmlformats.org/drawingml/2006/main" noGrp="1"/>
          </p:cNvSpPr>
          <p:nvPr/>
        </p:nvSpPr>
        <p:spPr>
          <a:xfrm xmlns:a="http://schemas.openxmlformats.org/drawingml/2006/main">
            <a:off x="7753350" y="952500"/>
            <a:ext cx="3714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3750" b="1" i="0">
                <a:solidFill>
                  <a:srgbClr val="323575"/>
                </a:solidFill>
                <a:latin typeface="Avenir Next"/>
                <a:ea typeface="Avenir Next"/>
                <a:cs typeface="Avenir Next"/>
              </a:rPr>
              <a:t>Bearings</a:t>
            </a:r>
          </a:p>
        </p:txBody>
      </p:sp>
      <p:sp>
        <p:nvSpPr>
          <p:cNvPr id="4" name="">
            <a:extLst xmlns:a="http://schemas.openxmlformats.org/drawingml/2006/main">
              <a:ext uri="{FF2B5EF4-FFF2-40B4-BE49-F238E27FC236}">
                <a16:creationId xmlns:a16="http://schemas.microsoft.com/office/drawing/2014/main" id="{0F6431DE-9680-4516-9E8A-BFF6B64246F9}"/>
              </a:ext>
            </a:extLst>
          </p:cNvPr>
          <p:cNvSpPr>
            <a:spLocks xmlns:a="http://schemas.openxmlformats.org/drawingml/2006/main" noGrp="1"/>
          </p:cNvSpPr>
          <p:nvPr/>
        </p:nvSpPr>
        <p:spPr>
          <a:xfrm xmlns:a="http://schemas.openxmlformats.org/drawingml/2006/main">
            <a:off x="7848600" y="1847850"/>
            <a:ext cx="3619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800" b="0" i="0">
                <a:solidFill>
                  <a:srgbClr val="323575"/>
                </a:solidFill>
                <a:latin typeface="Avenir Next"/>
                <a:ea typeface="Avenir Next"/>
                <a:cs typeface="Avenir Next"/>
              </a:rPr>
              <a:t>Find what’s been lost inside.</a:t>
            </a:r>
          </a:p>
        </p:txBody>
      </p:sp>
      <p:sp>
        <p:nvSpPr>
          <p:cNvPr id="5" name="">
            <a:extLst xmlns:a="http://schemas.openxmlformats.org/drawingml/2006/main">
              <a:ext uri="{FF2B5EF4-FFF2-40B4-BE49-F238E27FC236}">
                <a16:creationId xmlns:a16="http://schemas.microsoft.com/office/drawing/2014/main" id="{D7E66CE1-76FC-4203-911F-AE9039846D1D}"/>
              </a:ext>
            </a:extLst>
          </p:cNvPr>
          <p:cNvSpPr>
            <a:spLocks xmlns:a="http://schemas.openxmlformats.org/drawingml/2006/main" noGrp="1"/>
          </p:cNvSpPr>
          <p:nvPr/>
        </p:nvSpPr>
        <p:spPr>
          <a:xfrm xmlns:a="http://schemas.openxmlformats.org/drawingml/2006/main">
            <a:off x="7848600" y="54483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275" b="1" i="0">
                <a:solidFill>
                  <a:srgbClr val="080808"/>
                </a:solidFill>
                <a:latin typeface="Avenir Next"/>
                <a:ea typeface="Avenir Next"/>
                <a:cs typeface="Avenir Next"/>
              </a:rPr>
              <a:t>Private journaling with on-device reflection</a:t>
            </a:r>
          </a:p>
        </p:txBody>
      </p:sp>
      <p:sp>
        <p:nvSpPr>
          <p:cNvPr id="6" name="">
            <a:extLst xmlns:a="http://schemas.openxmlformats.org/drawingml/2006/main">
              <a:ext uri="{FF2B5EF4-FFF2-40B4-BE49-F238E27FC236}">
                <a16:creationId xmlns:a16="http://schemas.microsoft.com/office/drawing/2014/main" id="{5DB22DEB-077E-48B0-BCB4-53B4E9F55367}"/>
              </a:ext>
            </a:extLst>
          </p:cNvPr>
          <p:cNvSpPr>
            <a:spLocks xmlns:a="http://schemas.openxmlformats.org/drawingml/2006/main" noGrp="1"/>
          </p:cNvSpPr>
          <p:nvPr/>
        </p:nvSpPr>
        <p:spPr>
          <a:xfrm xmlns:a="http://schemas.openxmlformats.org/drawingml/2006/main">
            <a:off x="7848600" y="5848350"/>
            <a:ext cx="361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050" b="0" i="0">
                <a:solidFill>
                  <a:srgbClr val="5B5149"/>
                </a:solidFill>
                <a:latin typeface="Avenir Next"/>
                <a:ea typeface="Avenir Next"/>
                <a:cs typeface="Avenir Next"/>
              </a:rPr>
              <a:t>The journal remains the source. The writer remains in control.</a:t>
            </a:r>
          </a:p>
        </p:txBody>
      </p:sp>
    </p:spTree>
    <p:extLst>
      <p:ext uri="{BB962C8B-B14F-4D97-AF65-F5344CB8AC3E}">
        <p14:creationId xmlns:p14="http://schemas.microsoft.com/office/powerpoint/2010/main" val="1427443329"/>
      </p:ext>
    </p:extLst>
  </p:cSld>
</p:sld>
</file>

<file path=ppt/slides/slide2.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305AB29-F38B-43ED-B22B-7257C1AC54DB}"/>
              </a:ext>
            </a:extLst>
          </p:cNvPr>
          <p:cNvSpPr>
            <a:spLocks xmlns:a="http://schemas.openxmlformats.org/drawingml/2006/main" noGrp="1"/>
          </p:cNvSpPr>
          <p:nvPr/>
        </p:nvSpPr>
        <p:spPr>
          <a:xfrm xmlns:a="http://schemas.openxmlformats.org/drawingml/2006/main">
            <a:off x="609600" y="361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323575"/>
                </a:solidFill>
                <a:latin typeface="Avenir Next"/>
                <a:ea typeface="Avenir Next"/>
                <a:cs typeface="Avenir Next"/>
              </a:rPr>
              <a:t>RESEARCH</a:t>
            </a:r>
          </a:p>
        </p:txBody>
      </p:sp>
      <p:sp>
        <p:nvSpPr>
          <p:cNvPr id="2" name="slide-title">
            <a:extLst xmlns:a="http://schemas.openxmlformats.org/drawingml/2006/main">
              <a:ext uri="{FF2B5EF4-FFF2-40B4-BE49-F238E27FC236}">
                <a16:creationId xmlns:a16="http://schemas.microsoft.com/office/drawing/2014/main" id="{0C0A04DA-1635-4ACA-9955-91540E115D10}"/>
              </a:ext>
            </a:extLst>
          </p:cNvPr>
          <p:cNvSpPr>
            <a:spLocks xmlns:a="http://schemas.openxmlformats.org/drawingml/2006/main" noGrp="1"/>
          </p:cNvSpPr>
          <p:nvPr/>
        </p:nvSpPr>
        <p:spPr>
          <a:xfrm xmlns:a="http://schemas.openxmlformats.org/drawingml/2006/main">
            <a:off x="609600" y="704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550" b="1" i="0">
                <a:solidFill>
                  <a:srgbClr val="323575"/>
                </a:solidFill>
                <a:latin typeface="Avenir Next"/>
                <a:ea typeface="Avenir Next"/>
                <a:cs typeface="Avenir Next"/>
              </a:rPr>
              <a:t>Why emotional clarity matters now</a:t>
            </a:r>
          </a:p>
        </p:txBody>
      </p:sp>
      <p:sp>
        <p:nvSpPr>
          <p:cNvPr id="3" name="rule">
            <a:extLst xmlns:a="http://schemas.openxmlformats.org/drawingml/2006/main">
              <a:ext uri="{FF2B5EF4-FFF2-40B4-BE49-F238E27FC236}">
                <a16:creationId xmlns:a16="http://schemas.microsoft.com/office/drawing/2014/main" id="{440CC91A-CB5A-4C04-BF9F-8C1BD4263890}"/>
              </a:ext>
            </a:extLst>
          </p:cNvPr>
          <p:cNvSpPr>
            <a:spLocks xmlns:a="http://schemas.openxmlformats.org/drawingml/2006/main" noGrp="1"/>
          </p:cNvSpPr>
          <p:nvPr/>
        </p:nvSpPr>
        <p:spPr>
          <a:xfrm xmlns:a="http://schemas.openxmlformats.org/drawingml/2006/main">
            <a:off x="609600" y="6343650"/>
            <a:ext cx="10363200" cy="14288"/>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38ED542-5A1D-4C8E-A263-534457C2E13C}"/>
              </a:ext>
            </a:extLst>
          </p:cNvPr>
          <p:cNvSpPr>
            <a:spLocks xmlns:a="http://schemas.openxmlformats.org/drawingml/2006/main" noGrp="1"/>
          </p:cNvSpPr>
          <p:nvPr/>
        </p:nvSpPr>
        <p:spPr>
          <a:xfrm xmlns:a="http://schemas.openxmlformats.org/drawingml/2006/main">
            <a:off x="11029950" y="62007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975" b="1" i="0">
                <a:solidFill>
                  <a:srgbClr val="323575"/>
                </a:solidFill>
                <a:latin typeface="Avenir Next"/>
                <a:ea typeface="Avenir Next"/>
                <a:cs typeface="Avenir Next"/>
              </a:rPr>
              <a:t>02</a:t>
            </a:r>
          </a:p>
        </p:txBody>
      </p:sp>
      <p:sp>
        <p:nvSpPr>
          <p:cNvPr id="5" name="">
            <a:extLst xmlns:a="http://schemas.openxmlformats.org/drawingml/2006/main">
              <a:ext uri="{FF2B5EF4-FFF2-40B4-BE49-F238E27FC236}">
                <a16:creationId xmlns:a16="http://schemas.microsoft.com/office/drawing/2014/main" id="{17E3D2C7-9A71-4EA8-A0E6-9B198999BCDA}"/>
              </a:ext>
            </a:extLst>
          </p:cNvPr>
          <p:cNvSpPr>
            <a:spLocks xmlns:a="http://schemas.openxmlformats.org/drawingml/2006/main" noGrp="1"/>
          </p:cNvSpPr>
          <p:nvPr/>
        </p:nvSpPr>
        <p:spPr>
          <a:xfrm xmlns:a="http://schemas.openxmlformats.org/drawingml/2006/main">
            <a:off x="647700" y="1619250"/>
            <a:ext cx="342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5250" b="1" i="0">
                <a:solidFill>
                  <a:srgbClr val="323575"/>
                </a:solidFill>
                <a:latin typeface="Avenir Next"/>
                <a:ea typeface="Avenir Next"/>
                <a:cs typeface="Avenir Next"/>
              </a:rPr>
              <a:t>1 in 10</a:t>
            </a:r>
          </a:p>
        </p:txBody>
      </p:sp>
      <p:sp>
        <p:nvSpPr>
          <p:cNvPr id="6" name="">
            <a:extLst xmlns:a="http://schemas.openxmlformats.org/drawingml/2006/main">
              <a:ext uri="{FF2B5EF4-FFF2-40B4-BE49-F238E27FC236}">
                <a16:creationId xmlns:a16="http://schemas.microsoft.com/office/drawing/2014/main" id="{7BFB3B1F-DD58-49C6-ABC5-7B55C6B24A05}"/>
              </a:ext>
            </a:extLst>
          </p:cNvPr>
          <p:cNvSpPr>
            <a:spLocks xmlns:a="http://schemas.openxmlformats.org/drawingml/2006/main" noGrp="1"/>
          </p:cNvSpPr>
          <p:nvPr/>
        </p:nvSpPr>
        <p:spPr>
          <a:xfrm xmlns:a="http://schemas.openxmlformats.org/drawingml/2006/main">
            <a:off x="685800" y="2724150"/>
            <a:ext cx="40957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0" i="0">
                <a:solidFill>
                  <a:srgbClr val="080808"/>
                </a:solidFill>
                <a:latin typeface="Avenir Next"/>
                <a:ea typeface="Avenir Next"/>
                <a:cs typeface="Avenir Next"/>
              </a:rPr>
              <a:t>U.S. adults retrospectively reported childhood emotional neglect, either alone or alongside emotional abuse, in a nationally representative 2004–2005 survey.</a:t>
            </a:r>
          </a:p>
        </p:txBody>
      </p:sp>
      <p:sp>
        <p:nvSpPr>
          <p:cNvPr id="7" name="">
            <a:extLst xmlns:a="http://schemas.openxmlformats.org/drawingml/2006/main">
              <a:ext uri="{FF2B5EF4-FFF2-40B4-BE49-F238E27FC236}">
                <a16:creationId xmlns:a16="http://schemas.microsoft.com/office/drawing/2014/main" id="{BA02DC20-E0A9-4FC1-A9BC-65E2D6CB007A}"/>
              </a:ext>
            </a:extLst>
          </p:cNvPr>
          <p:cNvSpPr>
            <a:spLocks xmlns:a="http://schemas.openxmlformats.org/drawingml/2006/main" noGrp="1"/>
          </p:cNvSpPr>
          <p:nvPr/>
        </p:nvSpPr>
        <p:spPr>
          <a:xfrm xmlns:a="http://schemas.openxmlformats.org/drawingml/2006/main">
            <a:off x="685800" y="4362450"/>
            <a:ext cx="4095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1">
                <a:solidFill>
                  <a:srgbClr val="5B5149"/>
                </a:solidFill>
                <a:latin typeface="Avenir Next"/>
                <a:ea typeface="Avenir Next"/>
                <a:cs typeface="Avenir Next"/>
              </a:rPr>
              <a:t>The study measured childhood experience under a specific threshold. It does not estimate who needs Bearings or prove the app can repair neglect.</a:t>
            </a:r>
          </a:p>
        </p:txBody>
      </p:sp>
      <p:sp>
        <p:nvSpPr>
          <p:cNvPr id="8" name="divider">
            <a:extLst xmlns:a="http://schemas.openxmlformats.org/drawingml/2006/main">
              <a:ext uri="{FF2B5EF4-FFF2-40B4-BE49-F238E27FC236}">
                <a16:creationId xmlns:a16="http://schemas.microsoft.com/office/drawing/2014/main" id="{1E36B745-687C-4AD4-99B2-A68E575DBFE7}"/>
              </a:ext>
            </a:extLst>
          </p:cNvPr>
          <p:cNvSpPr>
            <a:spLocks xmlns:a="http://schemas.openxmlformats.org/drawingml/2006/main" noGrp="1"/>
          </p:cNvSpPr>
          <p:nvPr/>
        </p:nvSpPr>
        <p:spPr>
          <a:xfrm xmlns:a="http://schemas.openxmlformats.org/drawingml/2006/main">
            <a:off x="5219700" y="1600200"/>
            <a:ext cx="19050" cy="3905250"/>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78919E0-981F-4690-9750-AB2AB1BAF357}"/>
              </a:ext>
            </a:extLst>
          </p:cNvPr>
          <p:cNvSpPr>
            <a:spLocks xmlns:a="http://schemas.openxmlformats.org/drawingml/2006/main" noGrp="1"/>
          </p:cNvSpPr>
          <p:nvPr/>
        </p:nvSpPr>
        <p:spPr>
          <a:xfrm xmlns:a="http://schemas.openxmlformats.org/drawingml/2006/main">
            <a:off x="5695950" y="1600200"/>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66A7EDB4-3C88-4EFC-AF15-F9538D3E63D9}"/>
              </a:ext>
            </a:extLst>
          </p:cNvPr>
          <p:cNvSpPr>
            <a:spLocks xmlns:a="http://schemas.openxmlformats.org/drawingml/2006/main" noGrp="1"/>
          </p:cNvSpPr>
          <p:nvPr/>
        </p:nvSpPr>
        <p:spPr>
          <a:xfrm xmlns:a="http://schemas.openxmlformats.org/drawingml/2006/main">
            <a:off x="6191250" y="15811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Emotion education can help</a:t>
            </a:r>
          </a:p>
        </p:txBody>
      </p:sp>
      <p:sp>
        <p:nvSpPr>
          <p:cNvPr id="11" name="">
            <a:extLst xmlns:a="http://schemas.openxmlformats.org/drawingml/2006/main">
              <a:ext uri="{FF2B5EF4-FFF2-40B4-BE49-F238E27FC236}">
                <a16:creationId xmlns:a16="http://schemas.microsoft.com/office/drawing/2014/main" id="{1AF37000-BD11-44CD-825F-E6BEF976B71C}"/>
              </a:ext>
            </a:extLst>
          </p:cNvPr>
          <p:cNvSpPr>
            <a:spLocks xmlns:a="http://schemas.openxmlformats.org/drawingml/2006/main" noGrp="1"/>
          </p:cNvSpPr>
          <p:nvPr/>
        </p:nvSpPr>
        <p:spPr>
          <a:xfrm xmlns:a="http://schemas.openxmlformats.org/drawingml/2006/main">
            <a:off x="6191250" y="19621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A randomized study of 120 adults found that five days of emotion education improved negative emotion differentiation on a scenario task.</a:t>
            </a:r>
          </a:p>
        </p:txBody>
      </p:sp>
      <p:sp>
        <p:nvSpPr>
          <p:cNvPr id="12" name="">
            <a:extLst xmlns:a="http://schemas.openxmlformats.org/drawingml/2006/main">
              <a:ext uri="{FF2B5EF4-FFF2-40B4-BE49-F238E27FC236}">
                <a16:creationId xmlns:a16="http://schemas.microsoft.com/office/drawing/2014/main" id="{35DB9F65-8CF2-428E-AC4B-13C8869EF62F}"/>
              </a:ext>
            </a:extLst>
          </p:cNvPr>
          <p:cNvSpPr>
            <a:spLocks xmlns:a="http://schemas.openxmlformats.org/drawingml/2006/main" noGrp="1"/>
          </p:cNvSpPr>
          <p:nvPr/>
        </p:nvSpPr>
        <p:spPr>
          <a:xfrm xmlns:a="http://schemas.openxmlformats.org/drawingml/2006/main">
            <a:off x="5695950" y="2857500"/>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0EA6BDB1-01C9-4C16-A718-15BEA1C18649}"/>
              </a:ext>
            </a:extLst>
          </p:cNvPr>
          <p:cNvSpPr>
            <a:spLocks xmlns:a="http://schemas.openxmlformats.org/drawingml/2006/main" noGrp="1"/>
          </p:cNvSpPr>
          <p:nvPr/>
        </p:nvSpPr>
        <p:spPr>
          <a:xfrm xmlns:a="http://schemas.openxmlformats.org/drawingml/2006/main">
            <a:off x="6191250" y="28384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Disconnection is widespread</a:t>
            </a:r>
          </a:p>
        </p:txBody>
      </p:sp>
      <p:sp>
        <p:nvSpPr>
          <p:cNvPr id="14" name="">
            <a:extLst xmlns:a="http://schemas.openxmlformats.org/drawingml/2006/main">
              <a:ext uri="{FF2B5EF4-FFF2-40B4-BE49-F238E27FC236}">
                <a16:creationId xmlns:a16="http://schemas.microsoft.com/office/drawing/2014/main" id="{E836EB17-28CB-4DC3-AA1A-B1C9F6D7DDE2}"/>
              </a:ext>
            </a:extLst>
          </p:cNvPr>
          <p:cNvSpPr>
            <a:spLocks xmlns:a="http://schemas.openxmlformats.org/drawingml/2006/main" noGrp="1"/>
          </p:cNvSpPr>
          <p:nvPr/>
        </p:nvSpPr>
        <p:spPr>
          <a:xfrm xmlns:a="http://schemas.openxmlformats.org/drawingml/2006/main">
            <a:off x="6191250" y="32194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WHO estimates that about one in six people worldwide experience loneliness. OECD data show in-person interaction has been falling for more than a decade.</a:t>
            </a:r>
          </a:p>
        </p:txBody>
      </p:sp>
      <p:sp>
        <p:nvSpPr>
          <p:cNvPr id="15" name="">
            <a:extLst xmlns:a="http://schemas.openxmlformats.org/drawingml/2006/main">
              <a:ext uri="{FF2B5EF4-FFF2-40B4-BE49-F238E27FC236}">
                <a16:creationId xmlns:a16="http://schemas.microsoft.com/office/drawing/2014/main" id="{0CAC0A2D-E80D-48C4-90B3-465AE2EA3E1F}"/>
              </a:ext>
            </a:extLst>
          </p:cNvPr>
          <p:cNvSpPr>
            <a:spLocks xmlns:a="http://schemas.openxmlformats.org/drawingml/2006/main" noGrp="1"/>
          </p:cNvSpPr>
          <p:nvPr/>
        </p:nvSpPr>
        <p:spPr>
          <a:xfrm xmlns:a="http://schemas.openxmlformats.org/drawingml/2006/main">
            <a:off x="5695950" y="4114800"/>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74532225-95DB-468D-ABEE-E1990055B9D1}"/>
              </a:ext>
            </a:extLst>
          </p:cNvPr>
          <p:cNvSpPr>
            <a:spLocks xmlns:a="http://schemas.openxmlformats.org/drawingml/2006/main" noGrp="1"/>
          </p:cNvSpPr>
          <p:nvPr/>
        </p:nvSpPr>
        <p:spPr>
          <a:xfrm xmlns:a="http://schemas.openxmlformats.org/drawingml/2006/main">
            <a:off x="6191250" y="40957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Human skills define modern work</a:t>
            </a:r>
          </a:p>
        </p:txBody>
      </p:sp>
      <p:sp>
        <p:nvSpPr>
          <p:cNvPr id="17" name="">
            <a:extLst xmlns:a="http://schemas.openxmlformats.org/drawingml/2006/main">
              <a:ext uri="{FF2B5EF4-FFF2-40B4-BE49-F238E27FC236}">
                <a16:creationId xmlns:a16="http://schemas.microsoft.com/office/drawing/2014/main" id="{A7A16F68-6D34-491B-B2F9-0FC70CFDDD4B}"/>
              </a:ext>
            </a:extLst>
          </p:cNvPr>
          <p:cNvSpPr>
            <a:spLocks xmlns:a="http://schemas.openxmlformats.org/drawingml/2006/main" noGrp="1"/>
          </p:cNvSpPr>
          <p:nvPr/>
        </p:nvSpPr>
        <p:spPr>
          <a:xfrm xmlns:a="http://schemas.openxmlformats.org/drawingml/2006/main">
            <a:off x="6191250" y="44767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Across industries, employers rank creative thinking fourth, motivation and self-awareness fifth, and empathy with active listening seventh among core skills.</a:t>
            </a:r>
          </a:p>
        </p:txBody>
      </p:sp>
      <p:sp>
        <p:nvSpPr>
          <p:cNvPr id="18" name="research-inference">
            <a:extLst xmlns:a="http://schemas.openxmlformats.org/drawingml/2006/main">
              <a:ext uri="{FF2B5EF4-FFF2-40B4-BE49-F238E27FC236}">
                <a16:creationId xmlns:a16="http://schemas.microsoft.com/office/drawing/2014/main" id="{7E6914CA-5AE4-4D60-BD6B-62A5F1FAD32B}"/>
              </a:ext>
            </a:extLst>
          </p:cNvPr>
          <p:cNvSpPr>
            <a:spLocks xmlns:a="http://schemas.openxmlformats.org/drawingml/2006/main" noGrp="1"/>
          </p:cNvSpPr>
          <p:nvPr/>
        </p:nvSpPr>
        <p:spPr>
          <a:xfrm xmlns:a="http://schemas.openxmlformats.org/drawingml/2006/main">
            <a:off x="5657850" y="5467350"/>
            <a:ext cx="5486400" cy="438150"/>
          </a:xfrm>
          <a:prstGeom xmlns:a="http://schemas.openxmlformats.org/drawingml/2006/main" prst="roundRect">
            <a:avLst>
              <a:gd name="adj" fmla="val 17391"/>
            </a:avLst>
          </a:prstGeom>
          <a:solidFill xmlns:a="http://schemas.openxmlformats.org/drawingml/2006/main">
            <a:srgbClr val="E7D3B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FE208B7-48A0-46C3-8F4B-FBBF4864D715}"/>
              </a:ext>
            </a:extLst>
          </p:cNvPr>
          <p:cNvSpPr>
            <a:spLocks xmlns:a="http://schemas.openxmlformats.org/drawingml/2006/main" noGrp="1"/>
          </p:cNvSpPr>
          <p:nvPr/>
        </p:nvSpPr>
        <p:spPr>
          <a:xfrm xmlns:a="http://schemas.openxmlformats.org/drawingml/2006/main">
            <a:off x="5848350" y="5562600"/>
            <a:ext cx="510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125" b="1" i="0">
                <a:solidFill>
                  <a:srgbClr val="323575"/>
                </a:solidFill>
                <a:latin typeface="Avenir Next"/>
                <a:ea typeface="Avenir Next"/>
                <a:cs typeface="Avenir Next"/>
              </a:rPr>
              <a:t>Bearings turns these needs into a private practice: notice, name, reconsider, and review.</a:t>
            </a:r>
          </a:p>
        </p:txBody>
      </p:sp>
      <p:sp>
        <p:nvSpPr>
          <p:cNvPr id="20" name="">
            <a:extLst xmlns:a="http://schemas.openxmlformats.org/drawingml/2006/main">
              <a:ext uri="{FF2B5EF4-FFF2-40B4-BE49-F238E27FC236}">
                <a16:creationId xmlns:a16="http://schemas.microsoft.com/office/drawing/2014/main" id="{35A426A4-C5DA-4C2E-942F-DE236019FA4A}"/>
              </a:ext>
            </a:extLst>
          </p:cNvPr>
          <p:cNvSpPr>
            <a:spLocks xmlns:a="http://schemas.openxmlformats.org/drawingml/2006/main" noGrp="1"/>
          </p:cNvSpPr>
          <p:nvPr/>
        </p:nvSpPr>
        <p:spPr>
          <a:xfrm xmlns:a="http://schemas.openxmlformats.org/drawingml/2006/main">
            <a:off x="685800" y="598170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825" b="0" i="1">
                <a:solidFill>
                  <a:srgbClr val="5B5149"/>
                </a:solidFill>
                <a:latin typeface="Avenir Next"/>
                <a:ea typeface="Avenir Next"/>
                <a:cs typeface="Avenir Next"/>
              </a:rPr>
              <a:t>Sources: Taillieu et al. 2016; WHO 2025; OECD 2025; WEF 2025; Vedernikova et al. 2021</a:t>
            </a:r>
          </a:p>
        </p:txBody>
      </p:sp>
    </p:spTree>
    <p:extLst>
      <p:ext uri="{BB962C8B-B14F-4D97-AF65-F5344CB8AC3E}">
        <p14:creationId xmlns:p14="http://schemas.microsoft.com/office/powerpoint/2010/main" val="1937175447"/>
      </p:ext>
    </p:extLst>
  </p:cSld>
</p:sld>
</file>

<file path=ppt/slides/slide3.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2E37ADD-2EBF-41EA-BD67-AE27A98CE7BC}"/>
              </a:ext>
            </a:extLst>
          </p:cNvPr>
          <p:cNvSpPr>
            <a:spLocks xmlns:a="http://schemas.openxmlformats.org/drawingml/2006/main" noGrp="1"/>
          </p:cNvSpPr>
          <p:nvPr/>
        </p:nvSpPr>
        <p:spPr>
          <a:xfrm xmlns:a="http://schemas.openxmlformats.org/drawingml/2006/main">
            <a:off x="609600" y="361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323575"/>
                </a:solidFill>
                <a:latin typeface="Avenir Next"/>
                <a:ea typeface="Avenir Next"/>
                <a:cs typeface="Avenir Next"/>
              </a:rPr>
              <a:t>PRODUCT</a:t>
            </a:r>
          </a:p>
        </p:txBody>
      </p:sp>
      <p:sp>
        <p:nvSpPr>
          <p:cNvPr id="2" name="slide-title">
            <a:extLst xmlns:a="http://schemas.openxmlformats.org/drawingml/2006/main">
              <a:ext uri="{FF2B5EF4-FFF2-40B4-BE49-F238E27FC236}">
                <a16:creationId xmlns:a16="http://schemas.microsoft.com/office/drawing/2014/main" id="{87FF4286-6C0A-451B-A090-BA5E1ECE1433}"/>
              </a:ext>
            </a:extLst>
          </p:cNvPr>
          <p:cNvSpPr>
            <a:spLocks xmlns:a="http://schemas.openxmlformats.org/drawingml/2006/main" noGrp="1"/>
          </p:cNvSpPr>
          <p:nvPr/>
        </p:nvSpPr>
        <p:spPr>
          <a:xfrm xmlns:a="http://schemas.openxmlformats.org/drawingml/2006/main">
            <a:off x="609600" y="704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550" b="1" i="0">
                <a:solidFill>
                  <a:srgbClr val="323575"/>
                </a:solidFill>
                <a:latin typeface="Avenir Next"/>
                <a:ea typeface="Avenir Next"/>
                <a:cs typeface="Avenir Next"/>
              </a:rPr>
              <a:t>Bearings features</a:t>
            </a:r>
          </a:p>
        </p:txBody>
      </p:sp>
      <p:sp>
        <p:nvSpPr>
          <p:cNvPr id="3" name="rule">
            <a:extLst xmlns:a="http://schemas.openxmlformats.org/drawingml/2006/main">
              <a:ext uri="{FF2B5EF4-FFF2-40B4-BE49-F238E27FC236}">
                <a16:creationId xmlns:a16="http://schemas.microsoft.com/office/drawing/2014/main" id="{4A13AAA1-B9F1-4E30-8BC5-AE6825628F7D}"/>
              </a:ext>
            </a:extLst>
          </p:cNvPr>
          <p:cNvSpPr>
            <a:spLocks xmlns:a="http://schemas.openxmlformats.org/drawingml/2006/main" noGrp="1"/>
          </p:cNvSpPr>
          <p:nvPr/>
        </p:nvSpPr>
        <p:spPr>
          <a:xfrm xmlns:a="http://schemas.openxmlformats.org/drawingml/2006/main">
            <a:off x="609600" y="6343650"/>
            <a:ext cx="10363200" cy="14288"/>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C3D255E-BC18-4B4B-9E99-C710EFE64B07}"/>
              </a:ext>
            </a:extLst>
          </p:cNvPr>
          <p:cNvSpPr>
            <a:spLocks xmlns:a="http://schemas.openxmlformats.org/drawingml/2006/main" noGrp="1"/>
          </p:cNvSpPr>
          <p:nvPr/>
        </p:nvSpPr>
        <p:spPr>
          <a:xfrm xmlns:a="http://schemas.openxmlformats.org/drawingml/2006/main">
            <a:off x="11029950" y="62007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975" b="1" i="0">
                <a:solidFill>
                  <a:srgbClr val="323575"/>
                </a:solidFill>
                <a:latin typeface="Avenir Next"/>
                <a:ea typeface="Avenir Next"/>
                <a:cs typeface="Avenir Next"/>
              </a:rPr>
              <a:t>03</a:t>
            </a:r>
          </a:p>
        </p:txBody>
      </p:sp>
      <p:sp>
        <p:nvSpPr>
          <p:cNvPr id="5" name="timeline-frame">
            <a:extLst xmlns:a="http://schemas.openxmlformats.org/drawingml/2006/main">
              <a:ext uri="{FF2B5EF4-FFF2-40B4-BE49-F238E27FC236}">
                <a16:creationId xmlns:a16="http://schemas.microsoft.com/office/drawing/2014/main" id="{FBFAEE6E-5160-4011-BEC8-D2FCAFC48D05}"/>
              </a:ext>
            </a:extLst>
          </p:cNvPr>
          <p:cNvSpPr>
            <a:spLocks xmlns:a="http://schemas.openxmlformats.org/drawingml/2006/main" noGrp="1"/>
          </p:cNvSpPr>
          <p:nvPr/>
        </p:nvSpPr>
        <p:spPr>
          <a:xfrm xmlns:a="http://schemas.openxmlformats.org/drawingml/2006/main">
            <a:off x="628650" y="1504950"/>
            <a:ext cx="4000500" cy="2038350"/>
          </a:xfrm>
          <a:prstGeom xmlns:a="http://schemas.openxmlformats.org/drawingml/2006/main" prst="roundRect">
            <a:avLst>
              <a:gd name="adj" fmla="val 5607"/>
            </a:avLst>
          </a:prstGeom>
          <a:solidFill xmlns:a="http://schemas.openxmlformats.org/drawingml/2006/main">
            <a:srgbClr val="E7D3B8"/>
          </a:solidFill>
          <a:ln xmlns:a="http://schemas.openxmlformats.org/drawingml/2006/main" w="14288">
            <a:solidFill>
              <a:srgbClr val="323575"/>
            </a:solidFill>
            <a:prstDash val="solid"/>
          </a:ln>
        </p:spPr>
      </p:sp>
      <p:pic>
        <p:nvPicPr>
          <p:cNvPr id="6" name="">
            <a:extLst xmlns:a="http://schemas.openxmlformats.org/drawingml/2006/main">
              <a:ext uri="{FF2B5EF4-FFF2-40B4-BE49-F238E27FC236}">
                <a16:creationId xmlns:a16="http://schemas.microsoft.com/office/drawing/2014/main" id="{EDBD2DC8-26DC-470A-9862-BBED206400D1}"/>
              </a:ext>
            </a:extLst>
          </p:cNvPr>
          <p:cNvPicPr>
            <a:picLocks xmlns:a="http://schemas.openxmlformats.org/drawingml/2006/main" noChangeAspect="1"/>
          </p:cNvPicPr>
          <p:nvPr/>
        </p:nvPicPr>
        <p:blipFill>
          <a:blip xmlns:r="http://schemas.openxmlformats.org/officeDocument/2006/relationships" xmlns:a="http://schemas.openxmlformats.org/drawingml/2006/main" r:embed="R02b57338d4a142f5"/>
          <a:srcRect xmlns:a="http://schemas.openxmlformats.org/drawingml/2006/main" l="0" t="11175" r="0" b="11175"/>
          <a:stretch xmlns:a="http://schemas.openxmlformats.org/drawingml/2006/main">
            <a:fillRect l="0" t="0" r="0" b="0"/>
          </a:stretch>
        </p:blipFill>
        <p:spPr>
          <a:xfrm xmlns:a="http://schemas.openxmlformats.org/drawingml/2006/main">
            <a:off x="742950" y="1619250"/>
            <a:ext cx="3771900" cy="1809750"/>
          </a:xfrm>
          <a:prstGeom xmlns:a="http://schemas.openxmlformats.org/drawingml/2006/main" prst="roundRect">
            <a:avLst>
              <a:gd name="adj" fmla="val 4211"/>
            </a:avLst>
          </a:prstGeom>
        </p:spPr>
      </p:pic>
      <p:sp>
        <p:nvSpPr>
          <p:cNvPr id="7" name="reflection-frame">
            <a:extLst xmlns:a="http://schemas.openxmlformats.org/drawingml/2006/main">
              <a:ext uri="{FF2B5EF4-FFF2-40B4-BE49-F238E27FC236}">
                <a16:creationId xmlns:a16="http://schemas.microsoft.com/office/drawing/2014/main" id="{0850F6AA-8992-4939-B161-3E7FCF1D166F}"/>
              </a:ext>
            </a:extLst>
          </p:cNvPr>
          <p:cNvSpPr>
            <a:spLocks xmlns:a="http://schemas.openxmlformats.org/drawingml/2006/main" noGrp="1"/>
          </p:cNvSpPr>
          <p:nvPr/>
        </p:nvSpPr>
        <p:spPr>
          <a:xfrm xmlns:a="http://schemas.openxmlformats.org/drawingml/2006/main">
            <a:off x="628650" y="3714750"/>
            <a:ext cx="4000500" cy="2057400"/>
          </a:xfrm>
          <a:prstGeom xmlns:a="http://schemas.openxmlformats.org/drawingml/2006/main" prst="roundRect">
            <a:avLst>
              <a:gd name="adj" fmla="val 5556"/>
            </a:avLst>
          </a:prstGeom>
          <a:solidFill xmlns:a="http://schemas.openxmlformats.org/drawingml/2006/main">
            <a:srgbClr val="E7D3B8"/>
          </a:solidFill>
          <a:ln xmlns:a="http://schemas.openxmlformats.org/drawingml/2006/main" w="14288">
            <a:solidFill>
              <a:srgbClr val="323575"/>
            </a:solidFill>
            <a:prstDash val="solid"/>
          </a:ln>
        </p:spPr>
      </p:sp>
      <p:pic>
        <p:nvPicPr>
          <p:cNvPr id="8" name="">
            <a:extLst xmlns:a="http://schemas.openxmlformats.org/drawingml/2006/main">
              <a:ext uri="{FF2B5EF4-FFF2-40B4-BE49-F238E27FC236}">
                <a16:creationId xmlns:a16="http://schemas.microsoft.com/office/drawing/2014/main" id="{5B9E05E2-06BD-4438-92C5-EE95A2554944}"/>
              </a:ext>
            </a:extLst>
          </p:cNvPr>
          <p:cNvPicPr>
            <a:picLocks xmlns:a="http://schemas.openxmlformats.org/drawingml/2006/main" noChangeAspect="1"/>
          </p:cNvPicPr>
          <p:nvPr/>
        </p:nvPicPr>
        <p:blipFill>
          <a:blip xmlns:r="http://schemas.openxmlformats.org/officeDocument/2006/relationships" xmlns:a="http://schemas.openxmlformats.org/drawingml/2006/main" r:embed="Rae23c15cb8f24724"/>
          <a:srcRect xmlns:a="http://schemas.openxmlformats.org/drawingml/2006/main" l="0" t="0" r="0" b="62000"/>
          <a:stretch xmlns:a="http://schemas.openxmlformats.org/drawingml/2006/main"/>
        </p:blipFill>
        <p:spPr>
          <a:xfrm xmlns:a="http://schemas.openxmlformats.org/drawingml/2006/main">
            <a:off x="742950" y="3829050"/>
            <a:ext cx="3771900" cy="1828800"/>
          </a:xfrm>
          <a:prstGeom xmlns:a="http://schemas.openxmlformats.org/drawingml/2006/main" prst="roundRect">
            <a:avLst>
              <a:gd name="adj" fmla="val 4167"/>
            </a:avLst>
          </a:prstGeom>
        </p:spPr>
      </p:pic>
      <p:sp>
        <p:nvSpPr>
          <p:cNvPr id="9" name="">
            <a:extLst xmlns:a="http://schemas.openxmlformats.org/drawingml/2006/main">
              <a:ext uri="{FF2B5EF4-FFF2-40B4-BE49-F238E27FC236}">
                <a16:creationId xmlns:a16="http://schemas.microsoft.com/office/drawing/2014/main" id="{03ACB7C0-5460-4550-8E95-C889300ACEA7}"/>
              </a:ext>
            </a:extLst>
          </p:cNvPr>
          <p:cNvSpPr>
            <a:spLocks xmlns:a="http://schemas.openxmlformats.org/drawingml/2006/main" noGrp="1"/>
          </p:cNvSpPr>
          <p:nvPr/>
        </p:nvSpPr>
        <p:spPr>
          <a:xfrm xmlns:a="http://schemas.openxmlformats.org/drawingml/2006/main">
            <a:off x="5086350" y="15144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8246C3FF-DC6E-40A2-A224-270A8DCEF803}"/>
              </a:ext>
            </a:extLst>
          </p:cNvPr>
          <p:cNvSpPr>
            <a:spLocks xmlns:a="http://schemas.openxmlformats.org/drawingml/2006/main" noGrp="1"/>
          </p:cNvSpPr>
          <p:nvPr/>
        </p:nvSpPr>
        <p:spPr>
          <a:xfrm xmlns:a="http://schemas.openxmlformats.org/drawingml/2006/main">
            <a:off x="5524500" y="14954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Journaling supports reflection</a:t>
            </a:r>
          </a:p>
        </p:txBody>
      </p:sp>
      <p:sp>
        <p:nvSpPr>
          <p:cNvPr id="11" name="">
            <a:extLst xmlns:a="http://schemas.openxmlformats.org/drawingml/2006/main">
              <a:ext uri="{FF2B5EF4-FFF2-40B4-BE49-F238E27FC236}">
                <a16:creationId xmlns:a16="http://schemas.microsoft.com/office/drawing/2014/main" id="{D3842895-D078-43A5-BF7D-D1E7E1E1E0F3}"/>
              </a:ext>
            </a:extLst>
          </p:cNvPr>
          <p:cNvSpPr>
            <a:spLocks xmlns:a="http://schemas.openxmlformats.org/drawingml/2006/main" noGrp="1"/>
          </p:cNvSpPr>
          <p:nvPr/>
        </p:nvSpPr>
        <p:spPr>
          <a:xfrm xmlns:a="http://schemas.openxmlformats.org/drawingml/2006/main">
            <a:off x="5524500" y="17716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Writing slows the moment down and gives people a private place to examine what happened and how it felt.</a:t>
            </a:r>
          </a:p>
        </p:txBody>
      </p:sp>
      <p:sp>
        <p:nvSpPr>
          <p:cNvPr id="12" name="">
            <a:extLst xmlns:a="http://schemas.openxmlformats.org/drawingml/2006/main">
              <a:ext uri="{FF2B5EF4-FFF2-40B4-BE49-F238E27FC236}">
                <a16:creationId xmlns:a16="http://schemas.microsoft.com/office/drawing/2014/main" id="{93F5A1B9-E2D0-465A-B74D-BD9307A35818}"/>
              </a:ext>
            </a:extLst>
          </p:cNvPr>
          <p:cNvSpPr>
            <a:spLocks xmlns:a="http://schemas.openxmlformats.org/drawingml/2006/main" noGrp="1"/>
          </p:cNvSpPr>
          <p:nvPr/>
        </p:nvSpPr>
        <p:spPr>
          <a:xfrm xmlns:a="http://schemas.openxmlformats.org/drawingml/2006/main">
            <a:off x="5086350" y="23526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2EDE2E7D-ADE6-4D2D-AA73-908C0DE73662}"/>
              </a:ext>
            </a:extLst>
          </p:cNvPr>
          <p:cNvSpPr>
            <a:spLocks xmlns:a="http://schemas.openxmlformats.org/drawingml/2006/main" noGrp="1"/>
          </p:cNvSpPr>
          <p:nvPr/>
        </p:nvSpPr>
        <p:spPr>
          <a:xfrm xmlns:a="http://schemas.openxmlformats.org/drawingml/2006/main">
            <a:off x="5524500" y="23336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AI summarizes and finds vague wording</a:t>
            </a:r>
          </a:p>
        </p:txBody>
      </p:sp>
      <p:sp>
        <p:nvSpPr>
          <p:cNvPr id="14" name="">
            <a:extLst xmlns:a="http://schemas.openxmlformats.org/drawingml/2006/main">
              <a:ext uri="{FF2B5EF4-FFF2-40B4-BE49-F238E27FC236}">
                <a16:creationId xmlns:a16="http://schemas.microsoft.com/office/drawing/2014/main" id="{16062C9A-74B7-49D0-8C08-FDCDF8A29C6C}"/>
              </a:ext>
            </a:extLst>
          </p:cNvPr>
          <p:cNvSpPr>
            <a:spLocks xmlns:a="http://schemas.openxmlformats.org/drawingml/2006/main" noGrp="1"/>
          </p:cNvSpPr>
          <p:nvPr/>
        </p:nvSpPr>
        <p:spPr>
          <a:xfrm xmlns:a="http://schemas.openxmlformats.org/drawingml/2006/main">
            <a:off x="5524500" y="26098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On-device analysis can condense saved entries and invite a closer look at words such as “bad,” “fine,” or “upset.”</a:t>
            </a:r>
          </a:p>
        </p:txBody>
      </p:sp>
      <p:sp>
        <p:nvSpPr>
          <p:cNvPr id="15" name="">
            <a:extLst xmlns:a="http://schemas.openxmlformats.org/drawingml/2006/main">
              <a:ext uri="{FF2B5EF4-FFF2-40B4-BE49-F238E27FC236}">
                <a16:creationId xmlns:a16="http://schemas.microsoft.com/office/drawing/2014/main" id="{A79D5DCC-3BA3-4067-A565-BB8011E71633}"/>
              </a:ext>
            </a:extLst>
          </p:cNvPr>
          <p:cNvSpPr>
            <a:spLocks xmlns:a="http://schemas.openxmlformats.org/drawingml/2006/main" noGrp="1"/>
          </p:cNvSpPr>
          <p:nvPr/>
        </p:nvSpPr>
        <p:spPr>
          <a:xfrm xmlns:a="http://schemas.openxmlformats.org/drawingml/2006/main">
            <a:off x="5086350" y="3190875"/>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778CC8E4-D906-4C44-9774-6DA1DD716B12}"/>
              </a:ext>
            </a:extLst>
          </p:cNvPr>
          <p:cNvSpPr>
            <a:spLocks xmlns:a="http://schemas.openxmlformats.org/drawingml/2006/main" noGrp="1"/>
          </p:cNvSpPr>
          <p:nvPr/>
        </p:nvSpPr>
        <p:spPr>
          <a:xfrm xmlns:a="http://schemas.openxmlformats.org/drawingml/2006/main">
            <a:off x="5524500" y="31718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Rethinking builds understanding</a:t>
            </a:r>
          </a:p>
        </p:txBody>
      </p:sp>
      <p:sp>
        <p:nvSpPr>
          <p:cNvPr id="17" name="">
            <a:extLst xmlns:a="http://schemas.openxmlformats.org/drawingml/2006/main">
              <a:ext uri="{FF2B5EF4-FFF2-40B4-BE49-F238E27FC236}">
                <a16:creationId xmlns:a16="http://schemas.microsoft.com/office/drawing/2014/main" id="{92B9FD2B-6FD0-4E31-991C-2378BD630713}"/>
              </a:ext>
            </a:extLst>
          </p:cNvPr>
          <p:cNvSpPr>
            <a:spLocks xmlns:a="http://schemas.openxmlformats.org/drawingml/2006/main" noGrp="1"/>
          </p:cNvSpPr>
          <p:nvPr/>
        </p:nvSpPr>
        <p:spPr>
          <a:xfrm xmlns:a="http://schemas.openxmlformats.org/drawingml/2006/main">
            <a:off x="5524500" y="34480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Accepting, editing, or rejecting a suggestion can deepen emotional understanding and create practice for empathy and social skills.</a:t>
            </a:r>
          </a:p>
        </p:txBody>
      </p:sp>
      <p:sp>
        <p:nvSpPr>
          <p:cNvPr id="18" name="">
            <a:extLst xmlns:a="http://schemas.openxmlformats.org/drawingml/2006/main">
              <a:ext uri="{FF2B5EF4-FFF2-40B4-BE49-F238E27FC236}">
                <a16:creationId xmlns:a16="http://schemas.microsoft.com/office/drawing/2014/main" id="{506A9D1D-5097-469F-A088-3DFF8A572733}"/>
              </a:ext>
            </a:extLst>
          </p:cNvPr>
          <p:cNvSpPr>
            <a:spLocks xmlns:a="http://schemas.openxmlformats.org/drawingml/2006/main" noGrp="1"/>
          </p:cNvSpPr>
          <p:nvPr/>
        </p:nvSpPr>
        <p:spPr>
          <a:xfrm xmlns:a="http://schemas.openxmlformats.org/drawingml/2006/main">
            <a:off x="5086350" y="40290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CB689320-3582-413D-98DE-77A845C0A45B}"/>
              </a:ext>
            </a:extLst>
          </p:cNvPr>
          <p:cNvSpPr>
            <a:spLocks xmlns:a="http://schemas.openxmlformats.org/drawingml/2006/main" noGrp="1"/>
          </p:cNvSpPr>
          <p:nvPr/>
        </p:nvSpPr>
        <p:spPr>
          <a:xfrm xmlns:a="http://schemas.openxmlformats.org/drawingml/2006/main">
            <a:off x="5524500" y="40100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The weekly recap sharpens practice</a:t>
            </a:r>
          </a:p>
        </p:txBody>
      </p:sp>
      <p:sp>
        <p:nvSpPr>
          <p:cNvPr id="20" name="">
            <a:extLst xmlns:a="http://schemas.openxmlformats.org/drawingml/2006/main">
              <a:ext uri="{FF2B5EF4-FFF2-40B4-BE49-F238E27FC236}">
                <a16:creationId xmlns:a16="http://schemas.microsoft.com/office/drawing/2014/main" id="{A013263B-E0A9-4D24-80B7-A864343E3470}"/>
              </a:ext>
            </a:extLst>
          </p:cNvPr>
          <p:cNvSpPr>
            <a:spLocks xmlns:a="http://schemas.openxmlformats.org/drawingml/2006/main" noGrp="1"/>
          </p:cNvSpPr>
          <p:nvPr/>
        </p:nvSpPr>
        <p:spPr>
          <a:xfrm xmlns:a="http://schemas.openxmlformats.org/drawingml/2006/main">
            <a:off x="5524500" y="42862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A week-end review can surface trends, connect them to lessons, and identify situations that deserve attention.</a:t>
            </a:r>
          </a:p>
        </p:txBody>
      </p:sp>
      <p:sp>
        <p:nvSpPr>
          <p:cNvPr id="21" name="test-example">
            <a:extLst xmlns:a="http://schemas.openxmlformats.org/drawingml/2006/main">
              <a:ext uri="{FF2B5EF4-FFF2-40B4-BE49-F238E27FC236}">
                <a16:creationId xmlns:a16="http://schemas.microsoft.com/office/drawing/2014/main" id="{A4B49DC3-6AE9-4E01-9DDE-288A8BB0CB37}"/>
              </a:ext>
            </a:extLst>
          </p:cNvPr>
          <p:cNvSpPr>
            <a:spLocks xmlns:a="http://schemas.openxmlformats.org/drawingml/2006/main" noGrp="1"/>
          </p:cNvSpPr>
          <p:nvPr/>
        </p:nvSpPr>
        <p:spPr>
          <a:xfrm xmlns:a="http://schemas.openxmlformats.org/drawingml/2006/main">
            <a:off x="5029200" y="4953000"/>
            <a:ext cx="6210300" cy="838200"/>
          </a:xfrm>
          <a:prstGeom xmlns:a="http://schemas.openxmlformats.org/drawingml/2006/main" prst="roundRect">
            <a:avLst>
              <a:gd name="adj" fmla="val 9091"/>
            </a:avLst>
          </a:prstGeom>
          <a:solidFill xmlns:a="http://schemas.openxmlformats.org/drawingml/2006/main">
            <a:srgbClr val="32357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C34A35A-B010-4721-8674-4F286BB329C5}"/>
              </a:ext>
            </a:extLst>
          </p:cNvPr>
          <p:cNvSpPr>
            <a:spLocks xmlns:a="http://schemas.openxmlformats.org/drawingml/2006/main" noGrp="1"/>
          </p:cNvSpPr>
          <p:nvPr/>
        </p:nvSpPr>
        <p:spPr>
          <a:xfrm xmlns:a="http://schemas.openxmlformats.org/drawingml/2006/main">
            <a:off x="5238750" y="50863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050" b="1" i="0">
                <a:solidFill>
                  <a:srgbClr val="E7D3B8"/>
                </a:solidFill>
                <a:latin typeface="Avenir Next"/>
                <a:ea typeface="Avenir Next"/>
                <a:cs typeface="Avenir Next"/>
              </a:rPr>
              <a:t>Test example</a:t>
            </a:r>
          </a:p>
        </p:txBody>
      </p:sp>
      <p:sp>
        <p:nvSpPr>
          <p:cNvPr id="23" name="">
            <a:extLst xmlns:a="http://schemas.openxmlformats.org/drawingml/2006/main">
              <a:ext uri="{FF2B5EF4-FFF2-40B4-BE49-F238E27FC236}">
                <a16:creationId xmlns:a16="http://schemas.microsoft.com/office/drawing/2014/main" id="{460D4618-9E6C-4F0F-94AF-A22CF58FC756}"/>
              </a:ext>
            </a:extLst>
          </p:cNvPr>
          <p:cNvSpPr>
            <a:spLocks xmlns:a="http://schemas.openxmlformats.org/drawingml/2006/main" noGrp="1"/>
          </p:cNvSpPr>
          <p:nvPr/>
        </p:nvSpPr>
        <p:spPr>
          <a:xfrm xmlns:a="http://schemas.openxmlformats.org/drawingml/2006/main">
            <a:off x="5238750" y="5314950"/>
            <a:ext cx="577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FFF9EF"/>
                </a:solidFill>
                <a:latin typeface="Avenir Next"/>
                <a:ea typeface="Avenir Next"/>
                <a:cs typeface="Avenir Next"/>
              </a:rPr>
              <a:t>Alex writes, “I felt bad.” Bearings asks whether he means embarrassment, frustration, or worry about being judged. He corrects the wording, then reviews the recurring pattern at week’s end.</a:t>
            </a:r>
          </a:p>
        </p:txBody>
      </p:sp>
    </p:spTree>
    <p:extLst>
      <p:ext uri="{BB962C8B-B14F-4D97-AF65-F5344CB8AC3E}">
        <p14:creationId xmlns:p14="http://schemas.microsoft.com/office/powerpoint/2010/main" val="142970717"/>
      </p:ext>
    </p:extLst>
  </p:cSld>
</p:sld>
</file>

<file path=ppt/slides/slide4.xml><?xml version="1.0" encoding="utf-8"?>
<p:sld xmlns:p="http://schemas.openxmlformats.org/presentationml/2006/main">
  <p:cSld>
    <p:bg>
      <p:bgPr>
        <a:solidFill xmlns:a="http://schemas.openxmlformats.org/drawingml/2006/main">
          <a:srgbClr val="323575"/>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5ADA95BF-719D-4B85-A056-59D34D6DE21E}"/>
              </a:ext>
            </a:extLst>
          </p:cNvPr>
          <p:cNvPicPr>
            <a:picLocks xmlns:a="http://schemas.openxmlformats.org/drawingml/2006/main" noChangeAspect="1"/>
          </p:cNvPicPr>
          <p:nvPr/>
        </p:nvPicPr>
        <p:blipFill>
          <a:blip xmlns:r="http://schemas.openxmlformats.org/officeDocument/2006/relationships" xmlns:a="http://schemas.openxmlformats.org/drawingml/2006/main" r:embed="R12502b16f0d84b01"/>
          <a:srcRect xmlns:a="http://schemas.openxmlformats.org/drawingml/2006/main" l="0" t="6991" r="0" b="6991"/>
          <a:stretch xmlns:a="http://schemas.openxmlformats.org/drawingml/2006/main">
            <a:fillRect l="0" t="0" r="0" b="0"/>
          </a:stretch>
        </p:blipFill>
        <p:spPr>
          <a:xfrm xmlns:a="http://schemas.openxmlformats.org/drawingml/2006/main">
            <a:off x="0" y="0"/>
            <a:ext cx="3667125" cy="6858000"/>
          </a:xfrm>
          <a:prstGeom xmlns:a="http://schemas.openxmlformats.org/drawingml/2006/main" prst="rect">
            <a:avLst/>
          </a:prstGeom>
        </p:spPr>
      </p:pic>
      <p:sp>
        <p:nvSpPr>
          <p:cNvPr id="2" name="map-overlay">
            <a:extLst xmlns:a="http://schemas.openxmlformats.org/drawingml/2006/main">
              <a:ext uri="{FF2B5EF4-FFF2-40B4-BE49-F238E27FC236}">
                <a16:creationId xmlns:a16="http://schemas.microsoft.com/office/drawing/2014/main" id="{35AC3B40-AE1D-4951-A09C-E696F25319D1}"/>
              </a:ext>
            </a:extLst>
          </p:cNvPr>
          <p:cNvSpPr>
            <a:spLocks xmlns:a="http://schemas.openxmlformats.org/drawingml/2006/main" noGrp="1"/>
          </p:cNvSpPr>
          <p:nvPr/>
        </p:nvSpPr>
        <p:spPr>
          <a:xfrm xmlns:a="http://schemas.openxmlformats.org/drawingml/2006/main">
            <a:off x="0" y="0"/>
            <a:ext cx="3667125" cy="6858000"/>
          </a:xfrm>
          <a:prstGeom xmlns:a="http://schemas.openxmlformats.org/drawingml/2006/main" prst="rect">
            <a:avLst/>
          </a:prstGeom>
          <a:solidFill xmlns:a="http://schemas.openxmlformats.org/drawingml/2006/main">
            <a:srgbClr val="323575">
              <a:alpha val="78431"/>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6153134F-BB1F-49FC-BFC6-9D3F2AB5FF5E}"/>
              </a:ext>
            </a:extLst>
          </p:cNvPr>
          <p:cNvPicPr>
            <a:picLocks xmlns:a="http://schemas.openxmlformats.org/drawingml/2006/main" noChangeAspect="1"/>
          </p:cNvPicPr>
          <p:nvPr/>
        </p:nvPicPr>
        <p:blipFill>
          <a:blip xmlns:r="http://schemas.openxmlformats.org/officeDocument/2006/relationships" xmlns:a="http://schemas.openxmlformats.org/drawingml/2006/main" r:embed="R352902a26d964eed"/>
          <a:stretch xmlns:a="http://schemas.openxmlformats.org/drawingml/2006/main"/>
        </p:blipFill>
        <p:spPr>
          <a:xfrm xmlns:a="http://schemas.openxmlformats.org/drawingml/2006/main">
            <a:off x="838200" y="1428750"/>
            <a:ext cx="2000250" cy="2000250"/>
          </a:xfrm>
          <a:prstGeom xmlns:a="http://schemas.openxmlformats.org/drawingml/2006/main" prst="roundRect">
            <a:avLst>
              <a:gd name="adj" fmla="val 5714"/>
            </a:avLst>
          </a:prstGeom>
        </p:spPr>
      </p:pic>
      <p:sp>
        <p:nvSpPr>
          <p:cNvPr id="4" name="">
            <a:extLst xmlns:a="http://schemas.openxmlformats.org/drawingml/2006/main">
              <a:ext uri="{FF2B5EF4-FFF2-40B4-BE49-F238E27FC236}">
                <a16:creationId xmlns:a16="http://schemas.microsoft.com/office/drawing/2014/main" id="{09DDBE82-F69E-421B-A03F-C95A0B0FE699}"/>
              </a:ext>
            </a:extLst>
          </p:cNvPr>
          <p:cNvSpPr>
            <a:spLocks xmlns:a="http://schemas.openxmlformats.org/drawingml/2006/main" noGrp="1"/>
          </p:cNvSpPr>
          <p:nvPr/>
        </p:nvSpPr>
        <p:spPr>
          <a:xfrm xmlns:a="http://schemas.openxmlformats.org/drawingml/2006/main">
            <a:off x="628650" y="37909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3450" b="1" i="0">
                <a:solidFill>
                  <a:srgbClr val="FFF9EF"/>
                </a:solidFill>
                <a:latin typeface="Avenir Next"/>
                <a:ea typeface="Avenir Next"/>
                <a:cs typeface="Avenir Next"/>
              </a:rPr>
              <a:t>Millions</a:t>
            </a:r>
          </a:p>
        </p:txBody>
      </p:sp>
      <p:sp>
        <p:nvSpPr>
          <p:cNvPr id="5" name="">
            <a:extLst xmlns:a="http://schemas.openxmlformats.org/drawingml/2006/main">
              <a:ext uri="{FF2B5EF4-FFF2-40B4-BE49-F238E27FC236}">
                <a16:creationId xmlns:a16="http://schemas.microsoft.com/office/drawing/2014/main" id="{A8097703-A779-43E5-B2B7-7F399AEA06BA}"/>
              </a:ext>
            </a:extLst>
          </p:cNvPr>
          <p:cNvSpPr>
            <a:spLocks xmlns:a="http://schemas.openxmlformats.org/drawingml/2006/main" noGrp="1"/>
          </p:cNvSpPr>
          <p:nvPr/>
        </p:nvSpPr>
        <p:spPr>
          <a:xfrm xmlns:a="http://schemas.openxmlformats.org/drawingml/2006/main">
            <a:off x="609600" y="44577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350" b="0" i="0">
                <a:solidFill>
                  <a:srgbClr val="E7D3B8"/>
                </a:solidFill>
                <a:latin typeface="Avenir Next"/>
                <a:ea typeface="Avenir Next"/>
                <a:cs typeface="Avenir Next"/>
              </a:rPr>
              <a:t>of private reflections</a:t>
            </a:r>
          </a:p>
        </p:txBody>
      </p:sp>
      <p:sp>
        <p:nvSpPr>
          <p:cNvPr id="6" name="">
            <a:extLst xmlns:a="http://schemas.openxmlformats.org/drawingml/2006/main">
              <a:ext uri="{FF2B5EF4-FFF2-40B4-BE49-F238E27FC236}">
                <a16:creationId xmlns:a16="http://schemas.microsoft.com/office/drawing/2014/main" id="{1E2B52BD-193C-41F0-AF0D-3AFBA23F252D}"/>
              </a:ext>
            </a:extLst>
          </p:cNvPr>
          <p:cNvSpPr>
            <a:spLocks xmlns:a="http://schemas.openxmlformats.org/drawingml/2006/main" noGrp="1"/>
          </p:cNvSpPr>
          <p:nvPr/>
        </p:nvSpPr>
        <p:spPr>
          <a:xfrm xmlns:a="http://schemas.openxmlformats.org/drawingml/2006/main">
            <a:off x="552450" y="52197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125" b="1" i="0">
                <a:solidFill>
                  <a:srgbClr val="FFF9EF"/>
                </a:solidFill>
                <a:latin typeface="Avenir Next"/>
                <a:ea typeface="Avenir Next"/>
                <a:cs typeface="Avenir Next"/>
              </a:rPr>
              <a:t>No public feed. No employer dashboard. No central archive of people’s inner lives.</a:t>
            </a:r>
          </a:p>
        </p:txBody>
      </p:sp>
      <p:sp>
        <p:nvSpPr>
          <p:cNvPr id="7" name="">
            <a:extLst xmlns:a="http://schemas.openxmlformats.org/drawingml/2006/main">
              <a:ext uri="{FF2B5EF4-FFF2-40B4-BE49-F238E27FC236}">
                <a16:creationId xmlns:a16="http://schemas.microsoft.com/office/drawing/2014/main" id="{B1E49A27-2278-49E0-824D-C7C9048B32B2}"/>
              </a:ext>
            </a:extLst>
          </p:cNvPr>
          <p:cNvSpPr>
            <a:spLocks xmlns:a="http://schemas.openxmlformats.org/drawingml/2006/main" noGrp="1"/>
          </p:cNvSpPr>
          <p:nvPr/>
        </p:nvSpPr>
        <p:spPr>
          <a:xfrm xmlns:a="http://schemas.openxmlformats.org/drawingml/2006/main">
            <a:off x="4248150" y="514350"/>
            <a:ext cx="7067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625" b="1" i="0">
                <a:solidFill>
                  <a:srgbClr val="FFF9EF"/>
                </a:solidFill>
                <a:latin typeface="Avenir Next"/>
                <a:ea typeface="Avenir Next"/>
                <a:cs typeface="Avenir Next"/>
              </a:rPr>
              <a:t>A more connected world</a:t>
            </a:r>
          </a:p>
        </p:txBody>
      </p:sp>
      <p:sp>
        <p:nvSpPr>
          <p:cNvPr id="8" name="">
            <a:extLst xmlns:a="http://schemas.openxmlformats.org/drawingml/2006/main">
              <a:ext uri="{FF2B5EF4-FFF2-40B4-BE49-F238E27FC236}">
                <a16:creationId xmlns:a16="http://schemas.microsoft.com/office/drawing/2014/main" id="{C76D1FD4-020B-45B2-A82B-359BD65F5A25}"/>
              </a:ext>
            </a:extLst>
          </p:cNvPr>
          <p:cNvSpPr>
            <a:spLocks xmlns:a="http://schemas.openxmlformats.org/drawingml/2006/main" noGrp="1"/>
          </p:cNvSpPr>
          <p:nvPr/>
        </p:nvSpPr>
        <p:spPr>
          <a:xfrm xmlns:a="http://schemas.openxmlformats.org/drawingml/2006/main">
            <a:off x="4267200" y="1200150"/>
            <a:ext cx="685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725" b="0" i="0">
                <a:solidFill>
                  <a:srgbClr val="E7D3B8"/>
                </a:solidFill>
                <a:latin typeface="Avenir Next"/>
                <a:ea typeface="Avenir Next"/>
                <a:cs typeface="Avenir Next"/>
              </a:rPr>
              <a:t>Millions of people understand their own emotions clearly enough to become more curious about what someone else may be feeling.</a:t>
            </a:r>
          </a:p>
        </p:txBody>
      </p:sp>
      <p:sp>
        <p:nvSpPr>
          <p:cNvPr id="9" name="">
            <a:extLst xmlns:a="http://schemas.openxmlformats.org/drawingml/2006/main">
              <a:ext uri="{FF2B5EF4-FFF2-40B4-BE49-F238E27FC236}">
                <a16:creationId xmlns:a16="http://schemas.microsoft.com/office/drawing/2014/main" id="{0D9B532F-BBFA-4EF2-8C4E-11DD3A524C70}"/>
              </a:ext>
            </a:extLst>
          </p:cNvPr>
          <p:cNvSpPr>
            <a:spLocks xmlns:a="http://schemas.openxmlformats.org/drawingml/2006/main" noGrp="1"/>
          </p:cNvSpPr>
          <p:nvPr/>
        </p:nvSpPr>
        <p:spPr>
          <a:xfrm xmlns:a="http://schemas.openxmlformats.org/drawingml/2006/main">
            <a:off x="4267200" y="22669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D5668877-FF23-471E-9A07-2C3357402400}"/>
              </a:ext>
            </a:extLst>
          </p:cNvPr>
          <p:cNvSpPr>
            <a:spLocks xmlns:a="http://schemas.openxmlformats.org/drawingml/2006/main" noGrp="1"/>
          </p:cNvSpPr>
          <p:nvPr/>
        </p:nvSpPr>
        <p:spPr>
          <a:xfrm xmlns:a="http://schemas.openxmlformats.org/drawingml/2006/main">
            <a:off x="4724400" y="22479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Real connection</a:t>
            </a:r>
          </a:p>
        </p:txBody>
      </p:sp>
      <p:sp>
        <p:nvSpPr>
          <p:cNvPr id="11" name="">
            <a:extLst xmlns:a="http://schemas.openxmlformats.org/drawingml/2006/main">
              <a:ext uri="{FF2B5EF4-FFF2-40B4-BE49-F238E27FC236}">
                <a16:creationId xmlns:a16="http://schemas.microsoft.com/office/drawing/2014/main" id="{FE09BC5D-F79E-4F43-8B03-B1469F6CD4CB}"/>
              </a:ext>
            </a:extLst>
          </p:cNvPr>
          <p:cNvSpPr>
            <a:spLocks xmlns:a="http://schemas.openxmlformats.org/drawingml/2006/main" noGrp="1"/>
          </p:cNvSpPr>
          <p:nvPr/>
        </p:nvSpPr>
        <p:spPr>
          <a:xfrm xmlns:a="http://schemas.openxmlformats.org/drawingml/2006/main">
            <a:off x="6362700" y="22479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People notice when scrolling is replacing connection and choose to reach out, listen, or spend time together.</a:t>
            </a:r>
          </a:p>
        </p:txBody>
      </p:sp>
      <p:sp>
        <p:nvSpPr>
          <p:cNvPr id="12" name="">
            <a:extLst xmlns:a="http://schemas.openxmlformats.org/drawingml/2006/main">
              <a:ext uri="{FF2B5EF4-FFF2-40B4-BE49-F238E27FC236}">
                <a16:creationId xmlns:a16="http://schemas.microsoft.com/office/drawing/2014/main" id="{AEEE9048-C269-48D2-B5C3-7BB51C5866A5}"/>
              </a:ext>
            </a:extLst>
          </p:cNvPr>
          <p:cNvSpPr>
            <a:spLocks xmlns:a="http://schemas.openxmlformats.org/drawingml/2006/main" noGrp="1"/>
          </p:cNvSpPr>
          <p:nvPr/>
        </p:nvSpPr>
        <p:spPr>
          <a:xfrm xmlns:a="http://schemas.openxmlformats.org/drawingml/2006/main">
            <a:off x="4267200" y="31051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F0ECC6FE-23E2-4A96-8D47-2FD66EE91ECB}"/>
              </a:ext>
            </a:extLst>
          </p:cNvPr>
          <p:cNvSpPr>
            <a:spLocks xmlns:a="http://schemas.openxmlformats.org/drawingml/2006/main" noGrp="1"/>
          </p:cNvSpPr>
          <p:nvPr/>
        </p:nvSpPr>
        <p:spPr>
          <a:xfrm xmlns:a="http://schemas.openxmlformats.org/drawingml/2006/main">
            <a:off x="4724400" y="30861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Better friendships</a:t>
            </a:r>
          </a:p>
        </p:txBody>
      </p:sp>
      <p:sp>
        <p:nvSpPr>
          <p:cNvPr id="14" name="">
            <a:extLst xmlns:a="http://schemas.openxmlformats.org/drawingml/2006/main">
              <a:ext uri="{FF2B5EF4-FFF2-40B4-BE49-F238E27FC236}">
                <a16:creationId xmlns:a16="http://schemas.microsoft.com/office/drawing/2014/main" id="{EA35C0C9-E3CC-413A-A6E3-B1C4528517DA}"/>
              </a:ext>
            </a:extLst>
          </p:cNvPr>
          <p:cNvSpPr>
            <a:spLocks xmlns:a="http://schemas.openxmlformats.org/drawingml/2006/main" noGrp="1"/>
          </p:cNvSpPr>
          <p:nvPr/>
        </p:nvSpPr>
        <p:spPr>
          <a:xfrm xmlns:a="http://schemas.openxmlformats.org/drawingml/2006/main">
            <a:off x="6362700" y="30861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Friends can explain what they need, stay curious about each other, and repair misunderstandings earlier.</a:t>
            </a:r>
          </a:p>
        </p:txBody>
      </p:sp>
      <p:sp>
        <p:nvSpPr>
          <p:cNvPr id="15" name="">
            <a:extLst xmlns:a="http://schemas.openxmlformats.org/drawingml/2006/main">
              <a:ext uri="{FF2B5EF4-FFF2-40B4-BE49-F238E27FC236}">
                <a16:creationId xmlns:a16="http://schemas.microsoft.com/office/drawing/2014/main" id="{FA331A38-A9F8-426D-997F-4DA6F5541166}"/>
              </a:ext>
            </a:extLst>
          </p:cNvPr>
          <p:cNvSpPr>
            <a:spLocks xmlns:a="http://schemas.openxmlformats.org/drawingml/2006/main" noGrp="1"/>
          </p:cNvSpPr>
          <p:nvPr/>
        </p:nvSpPr>
        <p:spPr>
          <a:xfrm xmlns:a="http://schemas.openxmlformats.org/drawingml/2006/main">
            <a:off x="4267200" y="39433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37643A3A-EFC5-4AA3-8C15-8360C818DAA5}"/>
              </a:ext>
            </a:extLst>
          </p:cNvPr>
          <p:cNvSpPr>
            <a:spLocks xmlns:a="http://schemas.openxmlformats.org/drawingml/2006/main" noGrp="1"/>
          </p:cNvSpPr>
          <p:nvPr/>
        </p:nvSpPr>
        <p:spPr>
          <a:xfrm xmlns:a="http://schemas.openxmlformats.org/drawingml/2006/main">
            <a:off x="4724400" y="39243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Stronger families</a:t>
            </a:r>
          </a:p>
        </p:txBody>
      </p:sp>
      <p:sp>
        <p:nvSpPr>
          <p:cNvPr id="17" name="">
            <a:extLst xmlns:a="http://schemas.openxmlformats.org/drawingml/2006/main">
              <a:ext uri="{FF2B5EF4-FFF2-40B4-BE49-F238E27FC236}">
                <a16:creationId xmlns:a16="http://schemas.microsoft.com/office/drawing/2014/main" id="{466274B1-2AF5-41F2-BE4C-9BA786FC594B}"/>
              </a:ext>
            </a:extLst>
          </p:cNvPr>
          <p:cNvSpPr>
            <a:spLocks xmlns:a="http://schemas.openxmlformats.org/drawingml/2006/main" noGrp="1"/>
          </p:cNvSpPr>
          <p:nvPr/>
        </p:nvSpPr>
        <p:spPr>
          <a:xfrm xmlns:a="http://schemas.openxmlformats.org/drawingml/2006/main">
            <a:off x="6362700" y="39243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Families gain language for tension, care, and boundaries before unspoken patterns harden.</a:t>
            </a:r>
          </a:p>
        </p:txBody>
      </p:sp>
      <p:sp>
        <p:nvSpPr>
          <p:cNvPr id="18" name="">
            <a:extLst xmlns:a="http://schemas.openxmlformats.org/drawingml/2006/main">
              <a:ext uri="{FF2B5EF4-FFF2-40B4-BE49-F238E27FC236}">
                <a16:creationId xmlns:a16="http://schemas.microsoft.com/office/drawing/2014/main" id="{D27D405F-0DD6-4630-B7CB-351E6E0DECE6}"/>
              </a:ext>
            </a:extLst>
          </p:cNvPr>
          <p:cNvSpPr>
            <a:spLocks xmlns:a="http://schemas.openxmlformats.org/drawingml/2006/main" noGrp="1"/>
          </p:cNvSpPr>
          <p:nvPr/>
        </p:nvSpPr>
        <p:spPr>
          <a:xfrm xmlns:a="http://schemas.openxmlformats.org/drawingml/2006/main">
            <a:off x="4267200" y="4781550"/>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17FB1686-1836-47AB-8EDA-06D54D484957}"/>
              </a:ext>
            </a:extLst>
          </p:cNvPr>
          <p:cNvSpPr>
            <a:spLocks xmlns:a="http://schemas.openxmlformats.org/drawingml/2006/main" noGrp="1"/>
          </p:cNvSpPr>
          <p:nvPr/>
        </p:nvSpPr>
        <p:spPr>
          <a:xfrm xmlns:a="http://schemas.openxmlformats.org/drawingml/2006/main">
            <a:off x="4724400" y="4762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E9C46A"/>
                </a:solidFill>
                <a:latin typeface="Avenir Next"/>
                <a:ea typeface="Avenir Next"/>
                <a:cs typeface="Avenir Next"/>
              </a:rPr>
              <a:t>A more connected world</a:t>
            </a:r>
          </a:p>
        </p:txBody>
      </p:sp>
      <p:sp>
        <p:nvSpPr>
          <p:cNvPr id="20" name="">
            <a:extLst xmlns:a="http://schemas.openxmlformats.org/drawingml/2006/main">
              <a:ext uri="{FF2B5EF4-FFF2-40B4-BE49-F238E27FC236}">
                <a16:creationId xmlns:a16="http://schemas.microsoft.com/office/drawing/2014/main" id="{50FCD3E6-729B-4178-93DD-16886FE840BE}"/>
              </a:ext>
            </a:extLst>
          </p:cNvPr>
          <p:cNvSpPr>
            <a:spLocks xmlns:a="http://schemas.openxmlformats.org/drawingml/2006/main" noGrp="1"/>
          </p:cNvSpPr>
          <p:nvPr/>
        </p:nvSpPr>
        <p:spPr>
          <a:xfrm xmlns:a="http://schemas.openxmlformats.org/drawingml/2006/main">
            <a:off x="6362700" y="47625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Clearer emotional understanding strengthens businesses, friendships, and families while private reflection stays personal.</a:t>
            </a:r>
          </a:p>
        </p:txBody>
      </p:sp>
      <p:sp>
        <p:nvSpPr>
          <p:cNvPr id="21" name="rule">
            <a:extLst xmlns:a="http://schemas.openxmlformats.org/drawingml/2006/main">
              <a:ext uri="{FF2B5EF4-FFF2-40B4-BE49-F238E27FC236}">
                <a16:creationId xmlns:a16="http://schemas.microsoft.com/office/drawing/2014/main" id="{C2E4C268-DD0D-4C76-9262-E971A47A686A}"/>
              </a:ext>
            </a:extLst>
          </p:cNvPr>
          <p:cNvSpPr>
            <a:spLocks xmlns:a="http://schemas.openxmlformats.org/drawingml/2006/main" noGrp="1"/>
          </p:cNvSpPr>
          <p:nvPr/>
        </p:nvSpPr>
        <p:spPr>
          <a:xfrm xmlns:a="http://schemas.openxmlformats.org/drawingml/2006/main">
            <a:off x="4267200" y="5829300"/>
            <a:ext cx="6838950" cy="28575"/>
          </a:xfrm>
          <a:prstGeom xmlns:a="http://schemas.openxmlformats.org/drawingml/2006/main" prst="rect">
            <a:avLst/>
          </a:prstGeom>
          <a:solidFill xmlns:a="http://schemas.openxmlformats.org/drawingml/2006/main">
            <a:srgbClr val="B58A3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77077E2-3F4B-48AF-9ADA-EF88E624CBCE}"/>
              </a:ext>
            </a:extLst>
          </p:cNvPr>
          <p:cNvSpPr>
            <a:spLocks xmlns:a="http://schemas.openxmlformats.org/drawingml/2006/main" noGrp="1"/>
          </p:cNvSpPr>
          <p:nvPr/>
        </p:nvSpPr>
        <p:spPr>
          <a:xfrm xmlns:a="http://schemas.openxmlformats.org/drawingml/2006/main">
            <a:off x="4267200" y="5981700"/>
            <a:ext cx="683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350" b="1" i="0">
                <a:solidFill>
                  <a:srgbClr val="FFF9EF"/>
                </a:solidFill>
                <a:latin typeface="Avenir Next"/>
                <a:ea typeface="Avenir Next"/>
                <a:cs typeface="Avenir Next"/>
              </a:rPr>
              <a:t>Technology points people back toward real life with better language for one another.</a:t>
            </a:r>
          </a:p>
        </p:txBody>
      </p:sp>
    </p:spTree>
    <p:extLst>
      <p:ext uri="{BB962C8B-B14F-4D97-AF65-F5344CB8AC3E}">
        <p14:creationId xmlns:p14="http://schemas.microsoft.com/office/powerpoint/2010/main" val="9106530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2026-10-11T08:58:28.3680000Z</dcterms:created>
  <dcterms:modified xsi:type="dcterms:W3CDTF">2026-10-11T08:58:28.3680000Z</dcterms:modified>
</coreProperties>
</file>