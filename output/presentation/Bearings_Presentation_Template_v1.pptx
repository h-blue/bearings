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3f57e76c3243c2" /><Relationship Type="http://schemas.openxmlformats.org/officeDocument/2006/relationships/extended-properties" Target="/docProps/app.xml" Id="Rdaa2247535bb4171" /><Relationship Type="http://schemas.openxmlformats.org/officeDocument/2006/relationships/officeDocument" Target="/ppt/presentation.xml" Id="R77342d14d9e0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6a010698934018"/>
  </p:sldMasterIdLst>
  <p:notesMasterIdLst>
    <p:notesMasterId xmlns:r="http://schemas.openxmlformats.org/officeDocument/2006/relationships" r:id="R1bfc721837054d39"/>
  </p:notesMasterIdLst>
  <p:sldIdLst>
    <p:sldId xmlns:r="http://schemas.openxmlformats.org/officeDocument/2006/relationships" id="256" r:id="R1f3fefa330124e78"/>
    <p:sldId xmlns:r="http://schemas.openxmlformats.org/officeDocument/2006/relationships" id="257" r:id="R10e293f9643f4cb1"/>
    <p:sldId xmlns:r="http://schemas.openxmlformats.org/officeDocument/2006/relationships" id="258" r:id="Rcc9ae9626f554582"/>
    <p:sldId xmlns:r="http://schemas.openxmlformats.org/officeDocument/2006/relationships" id="259" r:id="R5e42c2de97ca4621"/>
    <p:sldId xmlns:r="http://schemas.openxmlformats.org/officeDocument/2006/relationships" id="260" r:id="Rde147229cbea4eb8"/>
    <p:sldId xmlns:r="http://schemas.openxmlformats.org/officeDocument/2006/relationships" id="261" r:id="Ra6963113b78f4aa4"/>
    <p:sldId xmlns:r="http://schemas.openxmlformats.org/officeDocument/2006/relationships" id="262" r:id="Rcb0ec9021b9f4f14"/>
    <p:sldId xmlns:r="http://schemas.openxmlformats.org/officeDocument/2006/relationships" id="263" r:id="R7a6791c45b1b46b5"/>
    <p:sldId xmlns:r="http://schemas.openxmlformats.org/officeDocument/2006/relationships" id="264" r:id="R29954deffd654212"/>
    <p:sldId xmlns:r="http://schemas.openxmlformats.org/officeDocument/2006/relationships" id="265" r:id="Rce116370cc4049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bf90386cd47f4" /><Relationship Type="http://schemas.openxmlformats.org/officeDocument/2006/relationships/slideMaster" Target="/ppt/slideMasters/slideMaster1.xml" Id="Rc16a010698934018" /><Relationship Type="http://schemas.openxmlformats.org/officeDocument/2006/relationships/notesMaster" Target="/ppt/notesMasters/notesMaster1.xml" Id="R1bfc721837054d39" /><Relationship Type="http://schemas.openxmlformats.org/officeDocument/2006/relationships/presProps" Target="/ppt/presProps.xml" Id="Ra7094d02d438426d" /><Relationship Type="http://schemas.openxmlformats.org/officeDocument/2006/relationships/tableStyles" Target="/ppt/tableStyles.xml" Id="R85d565c527b34af6" /><Relationship Type="http://schemas.openxmlformats.org/officeDocument/2006/relationships/slide" Target="/ppt/slides/slide1.xml" Id="R1f3fefa330124e78" /><Relationship Type="http://schemas.openxmlformats.org/officeDocument/2006/relationships/slide" Target="/ppt/slides/slide2.xml" Id="R10e293f9643f4cb1" /><Relationship Type="http://schemas.openxmlformats.org/officeDocument/2006/relationships/slide" Target="/ppt/slides/slide3.xml" Id="Rcc9ae9626f554582" /><Relationship Type="http://schemas.openxmlformats.org/officeDocument/2006/relationships/slide" Target="/ppt/slides/slide4.xml" Id="R5e42c2de97ca4621" /><Relationship Type="http://schemas.openxmlformats.org/officeDocument/2006/relationships/slide" Target="/ppt/slides/slide5.xml" Id="Rde147229cbea4eb8" /><Relationship Type="http://schemas.openxmlformats.org/officeDocument/2006/relationships/slide" Target="/ppt/slides/slide6.xml" Id="Ra6963113b78f4aa4" /><Relationship Type="http://schemas.openxmlformats.org/officeDocument/2006/relationships/slide" Target="/ppt/slides/slide7.xml" Id="Rcb0ec9021b9f4f14" /><Relationship Type="http://schemas.openxmlformats.org/officeDocument/2006/relationships/slide" Target="/ppt/slides/slide8.xml" Id="R7a6791c45b1b46b5" /><Relationship Type="http://schemas.openxmlformats.org/officeDocument/2006/relationships/slide" Target="/ppt/slides/slide9.xml" Id="R29954deffd654212" /><Relationship Type="http://schemas.openxmlformats.org/officeDocument/2006/relationships/slide" Target="/ppt/slides/slide10.xml" Id="Rce116370cc40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3758408ba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9585d2f07846d6" /><Relationship Type="http://schemas.openxmlformats.org/officeDocument/2006/relationships/notesMaster" Target="/ppt/notesMasters/notesMaster1.xml" Id="R399120e2c1794a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fa37b7ac643f6" /><Relationship Type="http://schemas.openxmlformats.org/officeDocument/2006/relationships/notesMaster" Target="/ppt/notesMasters/notesMaster1.xml" Id="R4a8c462ab69943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f65c9fa56a4000" /><Relationship Type="http://schemas.openxmlformats.org/officeDocument/2006/relationships/notesMaster" Target="/ppt/notesMasters/notesMaster1.xml" Id="R413fbcb3623746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50fe2375a54e75" /><Relationship Type="http://schemas.openxmlformats.org/officeDocument/2006/relationships/notesMaster" Target="/ppt/notesMasters/notesMaster1.xml" Id="Rb78dd6f2b82249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cb78b2bec49f6" /><Relationship Type="http://schemas.openxmlformats.org/officeDocument/2006/relationships/notesMaster" Target="/ppt/notesMasters/notesMaster1.xml" Id="Rf7eeac4ece0d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4bfa9043614198" /><Relationship Type="http://schemas.openxmlformats.org/officeDocument/2006/relationships/notesMaster" Target="/ppt/notesMasters/notesMaster1.xml" Id="R42eae7b4cfcf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2db42f932b433b" /><Relationship Type="http://schemas.openxmlformats.org/officeDocument/2006/relationships/notesMaster" Target="/ppt/notesMasters/notesMaster1.xml" Id="R9313e19a78ec49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60b1c43ca41d0" /><Relationship Type="http://schemas.openxmlformats.org/officeDocument/2006/relationships/notesMaster" Target="/ppt/notesMasters/notesMaster1.xml" Id="Rb27633b0e64b4f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c2b40ec31492d" /><Relationship Type="http://schemas.openxmlformats.org/officeDocument/2006/relationships/notesMaster" Target="/ppt/notesMasters/notesMaster1.xml" Id="R5c31bdc5594c41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b18197cae946ce" /><Relationship Type="http://schemas.openxmlformats.org/officeDocument/2006/relationships/notesMaster" Target="/ppt/notesMasters/notesMaster1.xml" Id="R1dbd9a8a2ede44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direction: keep this slide quiet. Introduce Bearings as a private iPhone journal that keeps the writer's story at the center.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CDC MMWR, 2022 survey across 26 U.S. states, published June 20, 2024. https://www.cdc.gov/mmwr/volumes/73/wr/mm7324a1.htm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measure concerns perceived support. It does not measure emotional intelligence, neglect, or Bearings' efficacy.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the product hierarchy before discussing AI. Bearings is a journal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an existing Bearings design reference. Preserve the app's paper, navy linework, gray markers, and black 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architecture: local saved entries → JournalIntelligence → JournalAnalysisEngine → JournalAnalysisService → separate derived records and corrections. Apple's on-device model is gated by SDK, OS, and runtime availability. Do not describe deterministic test responses as real model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material: docs/ProfessionalCaseStudy.md. Alex and Priya are fictional. The scenario is a product and safety test, not a testimonial.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app supports journals, daily/period reflections, and emotion correction. Finer source-linked assumptions and adaptive lessons remain proposed. Label any prepared lesson on screen as an illustration until implemented and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claims of treatment, diagnosis, guaranteed calm, proven empathy gains, or improved workplace performance. The last documented physical model run reported modelNotReady; verify current device status before presenting live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presents possible settings, not market proof. The product should remain local, offline, private, and free of analytics, social features, subscriptions, and cloud infrastructure for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Possible final asks: recruit test participants, request design feedback, or secure support for real-device evaluation. Keep the ask specific to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05cad13674d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10516936043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ce6c03fe74d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72f96cd0141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62b8012e8a41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077d3c2364d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79E1B7-F246-45A8-8997-A8BF58720B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9FE1A4-C5F1-4627-8F06-F885999448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BAE80A-7809-46CA-92D1-5B3C227F5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B5EC3-ADA3-45AC-A07E-262D8FE19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BECA46-1711-4D7F-A022-D69C55B73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0A890B-5E29-4C86-8FDF-F0BECD2B5C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87A8CD-C7CC-4222-9325-3620B25F75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00DFF0-68DD-430E-904D-FBB870FCFB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0557D4-8BE3-47BD-BF2F-02576E27B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BF3EB2-8C3C-4682-85BF-786A45D62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d107bdd5e54b66" /><Relationship Type="http://schemas.openxmlformats.org/officeDocument/2006/relationships/slideLayout" Target="/ppt/slideLayouts/slideLayout1.xml" Id="R08436a7592ff433a" /><Relationship Type="http://schemas.openxmlformats.org/officeDocument/2006/relationships/slideLayout" Target="/ppt/slideLayouts/slideLayout2.xml" Id="R80b328d8a4f44352" /><Relationship Type="http://schemas.openxmlformats.org/officeDocument/2006/relationships/slideLayout" Target="/ppt/slideLayouts/slideLayout3.xml" Id="R3d72c93b3f564164" /><Relationship Type="http://schemas.openxmlformats.org/officeDocument/2006/relationships/slideLayout" Target="/ppt/slideLayouts/slideLayout4.xml" Id="Ra69124585bab4878" /><Relationship Type="http://schemas.openxmlformats.org/officeDocument/2006/relationships/slideLayout" Target="/ppt/slideLayouts/slideLayout5.xml" Id="R96632695bdf141de" /><Relationship Type="http://schemas.openxmlformats.org/officeDocument/2006/relationships/slideLayout" Target="/ppt/slideLayouts/slideLayout6.xml" Id="Rad8a65629cfb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436a7592ff433a"/>
    <p:sldLayoutId xmlns:r="http://schemas.openxmlformats.org/officeDocument/2006/relationships" id="2147483650" r:id="R80b328d8a4f44352"/>
    <p:sldLayoutId xmlns:r="http://schemas.openxmlformats.org/officeDocument/2006/relationships" id="2147483651" r:id="R3d72c93b3f564164"/>
    <p:sldLayoutId xmlns:r="http://schemas.openxmlformats.org/officeDocument/2006/relationships" id="2147483652" r:id="Ra69124585bab4878"/>
    <p:sldLayoutId xmlns:r="http://schemas.openxmlformats.org/officeDocument/2006/relationships" id="2147483653" r:id="R96632695bdf141de"/>
    <p:sldLayoutId xmlns:r="http://schemas.openxmlformats.org/officeDocument/2006/relationships" id="2147483654" r:id="Rad8a65629cfb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3dab4ea724f01" /><Relationship Type="http://schemas.openxmlformats.org/officeDocument/2006/relationships/image" Target="/ppt/media/image.png" Id="R747d86e032144636" /><Relationship Type="http://schemas.openxmlformats.org/officeDocument/2006/relationships/notesSlide" Target="/ppt/notesSlides/notesSlide1.xml" Id="R33e9caf9502f4b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9ea2421c849c3" /><Relationship Type="http://schemas.openxmlformats.org/officeDocument/2006/relationships/notesSlide" Target="/ppt/notesSlides/notesSlide2.xml" Id="R7df36b9a0aec46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8c7c0a07e442c" /><Relationship Type="http://schemas.openxmlformats.org/officeDocument/2006/relationships/notesSlide" Target="/ppt/notesSlides/notesSlide3.xml" Id="R09c29877fe96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d182971a942f1" /><Relationship Type="http://schemas.openxmlformats.org/officeDocument/2006/relationships/image" Target="/ppt/media/image2.png" Id="Rbce227f312114ac4" /><Relationship Type="http://schemas.openxmlformats.org/officeDocument/2006/relationships/notesSlide" Target="/ppt/notesSlides/notesSlide4.xml" Id="R75d24015a95f44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3be584ba541a8" /><Relationship Type="http://schemas.openxmlformats.org/officeDocument/2006/relationships/image" Target="/ppt/media/image.jpeg" Id="Rdd17678b8268455b" /><Relationship Type="http://schemas.openxmlformats.org/officeDocument/2006/relationships/notesSlide" Target="/ppt/notesSlides/notesSlide5.xml" Id="R9082cf19c2a2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3d86363ee4479" /><Relationship Type="http://schemas.openxmlformats.org/officeDocument/2006/relationships/notesSlide" Target="/ppt/notesSlides/notesSlide6.xml" Id="R05a6dc97721343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dd3b707c241d7" /><Relationship Type="http://schemas.openxmlformats.org/officeDocument/2006/relationships/notesSlide" Target="/ppt/notesSlides/notesSlide7.xml" Id="Rb55a2085760c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030759bf7419d" /><Relationship Type="http://schemas.openxmlformats.org/officeDocument/2006/relationships/notesSlide" Target="/ppt/notesSlides/notesSlide8.xml" Id="Rfd279106cd7647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6e163f3f94b8b" /><Relationship Type="http://schemas.openxmlformats.org/officeDocument/2006/relationships/notesSlide" Target="/ppt/notesSlides/notesSlide9.xml" Id="R505ba011b1c84b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56407e274489e" /><Relationship Type="http://schemas.openxmlformats.org/officeDocument/2006/relationships/image" Target="/ppt/media/image3.png" Id="R2d9ccea0abf4464e" /><Relationship Type="http://schemas.openxmlformats.org/officeDocument/2006/relationships/notesSlide" Target="/ppt/notesSlides/notesSlide10.xml" Id="Rf2bbbdcf22a4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D7A80-9F0B-4FDC-AC14-1B4A4D9E1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d86e032144636"/>
          <a:srcRect xmlns:a="http://schemas.openxmlformats.org/drawingml/2006/main" l="0" t="37064" r="0" b="37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6A014FF3-D4E8-467B-B300-F1120BE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B89">
              <a:alpha val="9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EDE33BD-59CE-4EC3-A571-A919474E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5250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37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Bearings</a:t>
            </a:r>
          </a:p>
        </p:txBody>
      </p:sp>
      <p:sp>
        <p:nvSpPr>
          <p:cNvPr id="4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FAA8DEC3-C695-4566-B036-857C55B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1800" b="0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Find what’s been lost inside.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1B0ABCF-D0E6-49E2-B2DB-49D5238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2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1200" b="1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Presentation template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B30323E9-4C9C-4DEC-9226-3C44AC7B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102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0" i="0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Research • product story • test example •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1974433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9A1541D-EF17-4CC6-AD7C-4300B4E4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RESEARCH AND ISSUE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AE8751-F173-46AF-B29C-EA139482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The need for better emotional language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61DBEAA-1E2B-4007-B39B-4AC011D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14F6CD-D74B-49A2-916F-64667AC1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headline-stat">
            <a:extLst xmlns:a="http://schemas.openxmlformats.org/drawingml/2006/main">
              <a:ext uri="{FF2B5EF4-FFF2-40B4-BE49-F238E27FC236}">
                <a16:creationId xmlns:a16="http://schemas.microsoft.com/office/drawing/2014/main" id="{4F7F6645-6042-4E54-B23B-9B67548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58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29.7%</a:t>
            </a:r>
          </a:p>
        </p:txBody>
      </p:sp>
      <p:sp>
        <p:nvSpPr>
          <p:cNvPr id="6" name="stat-context">
            <a:extLst xmlns:a="http://schemas.openxmlformats.org/drawingml/2006/main">
              <a:ext uri="{FF2B5EF4-FFF2-40B4-BE49-F238E27FC236}">
                <a16:creationId xmlns:a16="http://schemas.microsoft.com/office/drawing/2014/main" id="{45E9767F-F370-4D1F-AF69-6D3BFD4D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800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of adults ages 18–34 in a 26-state CDC survey said they received needed social or emotional support only sometimes, rarely, or never.</a:t>
            </a:r>
          </a:p>
        </p:txBody>
      </p:sp>
      <p:sp>
        <p:nvSpPr>
          <p:cNvPr id="7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AF28E8C9-738D-45D1-BAD8-944E4408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F0976-8377-4EAD-B839-EDBD8B6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6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The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2270F-EFE9-489C-9C7D-25226580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4552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8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People often record that something felt “bad” without separating the event, the feeling, and the assumption that followed.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08AC3-ECBC-4324-B878-210D371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455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650" b="0" i="0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Bearings explores whether private reflection can make those distinctions easier to revisit and discuss.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8E553-79AC-4080-A30A-913A296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050" b="0" i="1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Template note: keep one need statistic, its population, and its limitation visible.</a:t>
            </a:r>
          </a:p>
        </p:txBody>
      </p:sp>
    </p:spTree>
    <p:extLst>
      <p:ext uri="{BB962C8B-B14F-4D97-AF65-F5344CB8AC3E}">
        <p14:creationId xmlns:p14="http://schemas.microsoft.com/office/powerpoint/2010/main" val="1227398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235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A065B3E-8258-4DB2-A145-06FF80B4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PRODUCT PRINCIPLE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ED5164-F1FF-49E2-BC5E-B92C3908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The story stays central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E90B958-5A3B-4ABA-82B0-3286CAE6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78708F-B60F-4DC2-A290-195A7C89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4C026-39D6-4449-94CB-52905ACC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22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timeline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3D835-6EE5-4ED0-9093-22ABA50A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22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3E902-7842-415C-8C03-0FAD5572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22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writing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B9A85D5-6CEC-43C2-8DA7-DC10D8B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81300"/>
            <a:ext cx="822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BF9F9-CEC4-4F24-99FB-546E179C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B89"/>
          </a:solidFill>
          <a:ln xmlns:a="http://schemas.openxmlformats.org/drawingml/2006/main" w="9525">
            <a:solidFill>
              <a:srgbClr val="C8AB8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6D994-EE7D-41E0-A884-3115BF78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0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B89"/>
          </a:solidFill>
          <a:ln xmlns:a="http://schemas.openxmlformats.org/drawingml/2006/main" w="9525">
            <a:solidFill>
              <a:srgbClr val="C8AB8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5143A-5A65-42CB-BBC7-8532968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00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B89"/>
          </a:solidFill>
          <a:ln xmlns:a="http://schemas.openxmlformats.org/drawingml/2006/main" w="9525">
            <a:solidFill>
              <a:srgbClr val="C8AB89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C076E-DDD9-4022-B734-ECF90CC1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42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Move through time without losing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4FCB4-FFCF-4FF7-8DF2-D0AD2242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95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42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Return to one civil calendar 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58199-94F4-4A51-B6B5-6465F11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42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Write in a native, private editor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2FC75-B29A-4C93-A789-80FA7659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053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87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AI appears after the journal, as a revisable interpretation rather than an authority.</a:t>
            </a:r>
          </a:p>
        </p:txBody>
      </p:sp>
    </p:spTree>
    <p:extLst>
      <p:ext uri="{BB962C8B-B14F-4D97-AF65-F5344CB8AC3E}">
        <p14:creationId xmlns:p14="http://schemas.microsoft.com/office/powerpoint/2010/main" val="110795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814F620-14FB-47E3-B96F-29CC7B91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CORE EXPERIENCE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DB7557-5B08-4D9F-920B-F7B6293F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A calm path back through the journal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4D037DD-B7AC-40AE-AC83-ACCFC8A3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84ECAC-CD63-4399-83BD-3A39724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timeline-frame">
            <a:extLst xmlns:a="http://schemas.openxmlformats.org/drawingml/2006/main">
              <a:ext uri="{FF2B5EF4-FFF2-40B4-BE49-F238E27FC236}">
                <a16:creationId xmlns:a16="http://schemas.microsoft.com/office/drawing/2014/main" id="{5E5162F2-5B6E-4C55-9268-57AF172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810375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E7D3B8"/>
          </a:solidFill>
          <a:ln xmlns:a="http://schemas.openxmlformats.org/drawingml/2006/main" w="14288">
            <a:solidFill>
              <a:srgbClr val="323575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F3875-3BBD-4F34-8A05-7BD9387CB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227f312114ac4"/>
          <a:srcRect xmlns:a="http://schemas.openxmlformats.org/drawingml/2006/main" l="0" t="5927" r="0" b="5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752600"/>
            <a:ext cx="6505575" cy="3543300"/>
          </a:xfrm>
          <a:prstGeom xmlns:a="http://schemas.openxmlformats.org/drawingml/2006/main" prst="roundRect">
            <a:avLst>
              <a:gd name="adj" fmla="val 21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00F71-1403-4760-9BAF-8D1F1F9D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1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Timeline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5BD81-7F1D-4CAD-B371-76BEB926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3276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 centered horizontal axis lets the writer move across days while keeping month and scroll position intact.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EAE7B-90EF-4E72-B939-32738EF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276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The pen shortcut returns to today’s journal. Decorative linework uses the same navy Line token as the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3F29E-4DBA-4D89-AAD7-2475FB8F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05425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75" b="0" i="1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Replace this reference with a final device capture when the demo build is locked.</a:t>
            </a:r>
          </a:p>
        </p:txBody>
      </p:sp>
    </p:spTree>
    <p:extLst>
      <p:ext uri="{BB962C8B-B14F-4D97-AF65-F5344CB8AC3E}">
        <p14:creationId xmlns:p14="http://schemas.microsoft.com/office/powerpoint/2010/main" val="2146785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DFA5FB7-AD52-41DC-844F-2D6A38E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FEATURE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95ACEC-197C-42D6-8EA2-0723E62C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Reflection stays on the device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F430A24-1E71-46D9-9A09-9B6CCE6B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27FF6A-2875-4945-9AC9-8191D18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reflection-frame">
            <a:extLst xmlns:a="http://schemas.openxmlformats.org/drawingml/2006/main">
              <a:ext uri="{FF2B5EF4-FFF2-40B4-BE49-F238E27FC236}">
                <a16:creationId xmlns:a16="http://schemas.microsoft.com/office/drawing/2014/main" id="{121B7E68-55E1-467A-A495-4C7C96C8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638550" cy="419100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E7D3B8"/>
          </a:solidFill>
          <a:ln xmlns:a="http://schemas.openxmlformats.org/drawingml/2006/main" w="14288">
            <a:solidFill>
              <a:srgbClr val="323575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B7B53-992C-4739-9ED9-90BCC81F97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7678b8268455b"/>
          <a:srcRect xmlns:a="http://schemas.openxmlformats.org/drawingml/2006/main" l="0" t="0" r="0" b="52000"/>
          <a:stretch xmlns:a="http://schemas.openxmlformats.org/drawingml/2006/main"/>
        </p:blipFill>
        <p:spPr>
          <a:xfrm xmlns:a="http://schemas.openxmlformats.org/drawingml/2006/main">
            <a:off x="857250" y="1762125"/>
            <a:ext cx="3257550" cy="3810000"/>
          </a:xfrm>
          <a:prstGeom xmlns:a="http://schemas.openxmlformats.org/drawingml/2006/main" prst="roundRect">
            <a:avLst>
              <a:gd name="adj" fmla="val 233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8468F-37EE-4539-BB25-FA84D46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3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35949-7B32-42F4-B84A-1094365B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14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8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Daily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D8325-B045-4972-B778-1FA73C05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519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 concise recap that stays linked to saved writing.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A27B-21DE-4CB6-9E06-4A8FACAB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44CE1-1A59-491B-A5DE-FE52B32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8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Weekly and monthly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4C519-1AF2-4267-8501-918DB540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90900"/>
            <a:ext cx="519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Patterns across time, requested by the writer.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C6F3D-5872-45E5-8D80-852AA83F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48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D2DCB-13C0-4B48-90C8-AD22F29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29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8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Correctable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D089B-50F7-41BE-B0B1-124F424D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519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The writer can replace an emotion suggestion without changing the journal.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4B30C-26C5-41B6-93E0-1AA79A2C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29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0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Current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785D5-DE83-4965-B652-A55C09B6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102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200" b="0" i="0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Original entries, generated records, and emotion overrides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884780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235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6584D0D-0881-40CE-9584-5493C752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TEST EXAMPLE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5A1D2-B91D-4F40-B0FD-CF0DBFEC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 fictional workplace test case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86E4981-DCBC-45A6-A9B2-98FA685A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53D851-B6BC-4A5C-960C-B495C598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65F33-EE4A-44F8-8A61-983B3A1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31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Alex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1744F-5FFA-44C1-87BC-0C970AB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350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Early-career engineer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69A1E-A664-4AD0-84AF-008F5397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723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025" b="0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During two feedback conversations, Alex offers a fix before Priya finishes explaining the problem. He hears criticism of the screen as criticism of his competence.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3D7E00C-9213-405E-9E83-B859CDD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3F58F-3A56-4CF3-A80A-E610C2D0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350" b="1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The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D27D6-8762-4772-BBE9-1ECFFE73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95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Can reflection help Alex inspect that assumption and choose a useful action without presenting an AI interpretation as fact?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763CB-8372-4074-9779-60267EE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050" b="0" i="1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Fictional journal • authored scenario • no measured outcome</a:t>
            </a:r>
          </a:p>
        </p:txBody>
      </p:sp>
    </p:spTree>
    <p:extLst>
      <p:ext uri="{BB962C8B-B14F-4D97-AF65-F5344CB8AC3E}">
        <p14:creationId xmlns:p14="http://schemas.microsoft.com/office/powerpoint/2010/main" val="1739225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9AFCEA-25B7-452E-81D6-4161DA4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TEST EXAMPLE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777264-42FA-4BD3-B83B-F98F7AE5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From entry to reviewed next step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FFD41AA-A988-42DA-85EF-DF1F4DC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3C1F75-A864-41E6-A27A-5000DD81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6D2F0-82CF-4098-B49F-F7B39465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DB7A2-DC5B-4F5F-8769-4F257196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9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2C51E-01BB-4654-8C04-F6E8FC35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Alex records the exchange in his own words.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00FC783-C4B7-4B6A-B775-49F53015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CEA3C-4393-43A5-8235-DC83B6B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FC3E6-03E0-4F0C-8DB0-E1A137AC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9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Reflect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237CF-0B15-4125-BB57-B05C0E2C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Bearings suggests a possible pattern and links it to dated entries.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D014FFB8-B619-444F-873B-A7788880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812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58FB9-9D9D-4E3F-9298-9580A4D1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9525">
            <a:solidFill>
              <a:srgbClr val="B58A3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B35F7-2EDB-45AA-9C85-E8CA899A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9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Correct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9B0C9-DBFC-43C3-91F0-74DC9EB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Alex accepts, edits, or rejects the interpretation and emotion.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51F67C9-8184-40FC-AAC4-BDB38677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64FC7-5644-426A-9577-697D339A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9525">
            <a:solidFill>
              <a:srgbClr val="32357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275" b="1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990D9-FDAA-4C8B-A76B-EEEAE919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9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Revisit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F45F6-9A0F-494B-AF35-ECD1D6A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9900"/>
            <a:ext cx="2190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42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A later review asks what helped, what remained hard, and what to try next.</a:t>
            </a:r>
          </a:p>
        </p:txBody>
      </p:sp>
      <p:sp>
        <p:nvSpPr>
          <p:cNvPr id="20" name="test-example-quote">
            <a:extLst xmlns:a="http://schemas.openxmlformats.org/drawingml/2006/main">
              <a:ext uri="{FF2B5EF4-FFF2-40B4-BE49-F238E27FC236}">
                <a16:creationId xmlns:a16="http://schemas.microsoft.com/office/drawing/2014/main" id="{4BFF95F1-5294-4A10-9BB3-91BE82B0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06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D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32D9A-4C17-46FE-B8CB-DA16555E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72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Example next step: “Ask one clarifying question before the first suggestion.”</a:t>
            </a:r>
          </a:p>
        </p:txBody>
      </p:sp>
    </p:spTree>
    <p:extLst>
      <p:ext uri="{BB962C8B-B14F-4D97-AF65-F5344CB8AC3E}">
        <p14:creationId xmlns:p14="http://schemas.microsoft.com/office/powerpoint/2010/main" val="1718910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1855209-3A3B-4426-8F5E-E83B684C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EVIDENCE STATUS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730F8C-9785-4478-8CB4-21CC5F16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What the prototype can claim today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F120234-7FDD-445A-B432-75D004C0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3131B9-7723-448C-A300-7E1358E8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F5CA0-0942-428C-A1C9-CE05EA9B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1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927B3-BC00-4877-A573-A572B596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Local writing with explicit saves</a:t>
            </a:r>
            <a:b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</a:br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Daily, weekly, and monthly recap flows</a:t>
            </a:r>
            <a:b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</a:br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Manual emotion correction</a:t>
            </a:r>
            <a:b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</a:br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Source fingerprints and stale-result handling</a:t>
            </a:r>
          </a:p>
        </p:txBody>
      </p:sp>
      <p:sp>
        <p:nvSpPr>
          <p:cNvPr id="7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59464512-F63B-4936-8DDB-D4F456F0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1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8BAB7-2AE2-4609-82F3-C32CE64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1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Still to validate or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75EB8-6358-4B33-B19A-E7A3BC3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Real-device semantic quality and latency</a:t>
            </a:r>
            <a:b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</a:br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Finer emotion exploration</a:t>
            </a:r>
            <a:b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</a:br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Editable, source-linked assumptions</a:t>
            </a:r>
            <a:b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</a:br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• Adaptive lesson and outcome history</a:t>
            </a:r>
          </a:p>
        </p:txBody>
      </p:sp>
      <p:sp>
        <p:nvSpPr>
          <p:cNvPr id="10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5B89D9D4-1D99-4122-85DC-4AADA1A5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458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A62B7-C90A-4C12-B832-99417BFC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8275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50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The defensible claim: Bearings has implemented safeguards and a testable design for private reflection.</a:t>
            </a:r>
          </a:p>
        </p:txBody>
      </p:sp>
    </p:spTree>
    <p:extLst>
      <p:ext uri="{BB962C8B-B14F-4D97-AF65-F5344CB8AC3E}">
        <p14:creationId xmlns:p14="http://schemas.microsoft.com/office/powerpoint/2010/main" val="1052070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8AB8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616B35-15AC-46D3-8401-84774B8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90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OUT IN THE WILD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8F3444-BF32-4C1A-91D4-21547918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550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Broader potential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301394F-F1D9-473D-B136-E24D3E5C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363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C0C32-F37B-40E5-A0E0-DC43DA1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10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/>
          </a:lstStyle>
          <a:p xmlns:a="http://schemas.openxmlformats.org/drawingml/2006/main">
            <a:pPr algn="r"/>
            <a:r>
              <a:rPr sz="97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19BB4-B412-46DA-A138-14DE7DC7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02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Personal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7E70C2C-E51C-4B93-96D0-A23A1555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288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840F1-920F-4ECC-8A5F-74744F2D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680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Notice recurring situations and prepare clearer language for a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77561-4AF5-4019-BA55-1580524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02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Education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F3F806E-8C8B-4F9A-9BCD-5CBE897A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491D7-4B8B-4C28-9F20-79086B0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680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Practice naming emotions in context while keeping the student in control of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C711B-1C5E-4FAA-8606-EF02DDA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025" b="1" i="0">
                <a:solidFill>
                  <a:srgbClr val="323575"/>
                </a:solidFill>
                <a:latin typeface="Avenir Next"/>
                <a:ea typeface="Avenir Next"/>
                <a:cs typeface="Avenir Next"/>
              </a:rPr>
              <a:t>Work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F8D56AB1-6B06-4B18-9E44-764392A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9D6C9-3E41-4A06-B9CE-3AF4B6F2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6800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080808"/>
                </a:solidFill>
                <a:latin typeface="Avenir Next"/>
                <a:ea typeface="Avenir Next"/>
                <a:cs typeface="Avenir Next"/>
              </a:rPr>
              <a:t>Review moments of tension, repair, or boundary setting without turning a private journal into an employer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B42D0-D02D-410C-A83D-1F0DE2AA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19750"/>
            <a:ext cx="864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/>
          </a:lstStyle>
          <a:p xmlns:a="http://schemas.openxmlformats.org/drawingml/2006/main">
            <a:pPr algn="ctr"/>
            <a:r>
              <a:rPr sz="1350" b="1" i="0">
                <a:solidFill>
                  <a:srgbClr val="5B5149"/>
                </a:solidFill>
                <a:latin typeface="Avenir Next"/>
                <a:ea typeface="Avenir Next"/>
                <a:cs typeface="Avenir Next"/>
              </a:rPr>
              <a:t>The boundary travels with the product: private by default, no hidden audience, and no claim that the model knows another person’s motives.</a:t>
            </a:r>
          </a:p>
        </p:txBody>
      </p:sp>
    </p:spTree>
    <p:extLst>
      <p:ext uri="{BB962C8B-B14F-4D97-AF65-F5344CB8AC3E}">
        <p14:creationId xmlns:p14="http://schemas.microsoft.com/office/powerpoint/2010/main" val="1977016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235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632A-0A01-4496-BB85-DFC018EA4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ccea0abf4464e"/>
          <a:stretch xmlns:a="http://schemas.openxmlformats.org/drawingml/2006/main"/>
        </p:blipFill>
        <p:spPr>
          <a:xfrm xmlns:a="http://schemas.openxmlformats.org/drawingml/2006/main">
            <a:off x="819150" y="1676400"/>
            <a:ext cx="295275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A46F-0541-42E0-9DF1-053FC5F2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81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3300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Bearings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4B01D-552C-4B21-91A7-165063A4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2325" b="1" i="0">
                <a:solidFill>
                  <a:srgbClr val="FFF9EF"/>
                </a:solidFill>
                <a:latin typeface="Avenir Next"/>
                <a:ea typeface="Avenir Next"/>
                <a:cs typeface="Avenir Next"/>
              </a:rPr>
              <a:t>A private place to notice, name, and revisit what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75511-BFA1-45AF-A791-4B5E18B8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575" b="0" i="0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The next proof point is modest and measurable: can people apply a clearer distinction in a later situation and say whether it helped?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B1129F6-D285-4E61-B377-1DA15F2E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911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8B6FE-A965-4420-910C-A750FD8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578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/>
          </a:lstStyle>
          <a:p xmlns:a="http://schemas.openxmlformats.org/drawingml/2006/main">
            <a:pPr algn="l"/>
            <a:r>
              <a:rPr sz="1050" b="0" i="1">
                <a:solidFill>
                  <a:srgbClr val="E7D3B8"/>
                </a:solidFill>
                <a:latin typeface="Avenir Next"/>
                <a:ea typeface="Avenir Next"/>
                <a:cs typeface="Avenir Next"/>
              </a:rPr>
              <a:t>Template close • replace with the specific ask for the audience</a:t>
            </a:r>
          </a:p>
        </p:txBody>
      </p:sp>
    </p:spTree>
    <p:extLst>
      <p:ext uri="{BB962C8B-B14F-4D97-AF65-F5344CB8AC3E}">
        <p14:creationId xmlns:p14="http://schemas.microsoft.com/office/powerpoint/2010/main" val="159682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2026-10-11T08:41:11.6210000Z</dcterms:created>
  <dcterms:modified xsi:type="dcterms:W3CDTF">2026-10-11T08:41:11.6210000Z</dcterms:modified>
</coreProperties>
</file>